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6" r:id="rId3"/>
    <p:sldId id="257" r:id="rId4"/>
    <p:sldId id="258" r:id="rId5"/>
    <p:sldId id="259" r:id="rId6"/>
    <p:sldId id="260" r:id="rId7"/>
    <p:sldId id="261" r:id="rId8"/>
    <p:sldId id="262" r:id="rId9"/>
    <p:sldId id="263" r:id="rId10"/>
    <p:sldId id="264" r:id="rId11"/>
    <p:sldId id="265" r:id="rId12"/>
    <p:sldId id="268" r:id="rId13"/>
    <p:sldId id="267"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6928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7B08A-2DB3-664F-30DE-43457F0C8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6B88E4-6B06-33AD-6E39-3A806373633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6AD171-29E3-3B9A-2791-929FDED403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84A378-4A82-EC0D-FF74-6C7D59130C1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607283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8EC58-C65E-3167-92F8-A421452B07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917EE6-B586-64AD-A416-B4C67936BBA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FAF0FF-B11A-5878-4771-3B08BF7716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38291A-DAC4-15B5-9590-48BA8BD8A5F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859150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en-US"/>
          </a:p>
        </p:txBody>
      </p:sp>
      <p:sp>
        <p:nvSpPr>
          <p:cNvPr id="3" name="Shape 1"/>
          <p:cNvSpPr/>
          <p:nvPr/>
        </p:nvSpPr>
        <p:spPr>
          <a:xfrm>
            <a:off x="0" y="5070348"/>
            <a:ext cx="9144000" cy="73152"/>
          </a:xfrm>
          <a:prstGeom prst="rect">
            <a:avLst/>
          </a:prstGeom>
          <a:solidFill>
            <a:srgbClr val="0D9488"/>
          </a:solidFill>
          <a:ln/>
        </p:spPr>
        <p:txBody>
          <a:bodyPr/>
          <a:lstStyle/>
          <a:p>
            <a:endParaRPr lang="en-US"/>
          </a:p>
        </p:txBody>
      </p:sp>
      <p:sp>
        <p:nvSpPr>
          <p:cNvPr id="4" name="Shape 2"/>
          <p:cNvSpPr/>
          <p:nvPr/>
        </p:nvSpPr>
        <p:spPr>
          <a:xfrm>
            <a:off x="457200" y="1097280"/>
            <a:ext cx="54864" cy="2011680"/>
          </a:xfrm>
          <a:prstGeom prst="rect">
            <a:avLst/>
          </a:prstGeom>
          <a:solidFill>
            <a:srgbClr val="5EEAD4"/>
          </a:solidFill>
          <a:ln/>
        </p:spPr>
        <p:txBody>
          <a:bodyPr/>
          <a:lstStyle/>
          <a:p>
            <a:endParaRPr lang="en-US"/>
          </a:p>
        </p:txBody>
      </p:sp>
      <p:sp>
        <p:nvSpPr>
          <p:cNvPr id="5" name="Text 3"/>
          <p:cNvSpPr/>
          <p:nvPr/>
        </p:nvSpPr>
        <p:spPr>
          <a:xfrm>
            <a:off x="822960" y="1097280"/>
            <a:ext cx="7772400" cy="91440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Harassment Detection</a:t>
            </a:r>
            <a:endParaRPr lang="en-US" sz="3800" dirty="0"/>
          </a:p>
        </p:txBody>
      </p:sp>
      <p:sp>
        <p:nvSpPr>
          <p:cNvPr id="6" name="Text 4"/>
          <p:cNvSpPr/>
          <p:nvPr/>
        </p:nvSpPr>
        <p:spPr>
          <a:xfrm>
            <a:off x="822960" y="2002536"/>
            <a:ext cx="7772400" cy="640080"/>
          </a:xfrm>
          <a:prstGeom prst="rect">
            <a:avLst/>
          </a:prstGeom>
          <a:noFill/>
          <a:ln/>
        </p:spPr>
        <p:txBody>
          <a:bodyPr wrap="square" lIns="0" tIns="0" rIns="0" bIns="0" rtlCol="0" anchor="ctr"/>
          <a:lstStyle/>
          <a:p>
            <a:pPr marL="0" indent="0">
              <a:buNone/>
            </a:pPr>
            <a:r>
              <a:rPr lang="en-US" sz="2200" dirty="0">
                <a:solidFill>
                  <a:srgbClr val="5EEAD4"/>
                </a:solidFill>
                <a:latin typeface="Calibri" pitchFamily="34" charset="0"/>
                <a:ea typeface="Calibri" pitchFamily="34" charset="-122"/>
                <a:cs typeface="Calibri" pitchFamily="34" charset="-120"/>
              </a:rPr>
              <a:t>Traditional ML vs Deep Learning</a:t>
            </a:r>
            <a:endParaRPr lang="en-US" sz="2200" dirty="0"/>
          </a:p>
        </p:txBody>
      </p:sp>
      <p:sp>
        <p:nvSpPr>
          <p:cNvPr id="7" name="Text 5"/>
          <p:cNvSpPr/>
          <p:nvPr/>
        </p:nvSpPr>
        <p:spPr>
          <a:xfrm>
            <a:off x="822960" y="3017520"/>
            <a:ext cx="7772400" cy="329184"/>
          </a:xfrm>
          <a:prstGeom prst="rect">
            <a:avLst/>
          </a:prstGeom>
          <a:noFill/>
          <a:ln/>
        </p:spPr>
        <p:txBody>
          <a:bodyPr wrap="square" lIns="0" tIns="0" rIns="0" bIns="0" rtlCol="0" anchor="ctr"/>
          <a:lstStyle/>
          <a:p>
            <a:pPr marL="0" indent="0">
              <a:buNone/>
            </a:pPr>
            <a:endParaRPr lang="el-GR" sz="1400" i="1" dirty="0">
              <a:solidFill>
                <a:srgbClr val="64748B"/>
              </a:solidFill>
              <a:latin typeface="Calibri" pitchFamily="34" charset="0"/>
              <a:ea typeface="Calibri" pitchFamily="34" charset="-122"/>
              <a:cs typeface="Calibri" pitchFamily="34" charset="-120"/>
            </a:endParaRPr>
          </a:p>
          <a:p>
            <a:pPr marL="0" indent="0">
              <a:buNone/>
            </a:pPr>
            <a:endParaRPr lang="el-GR" sz="1400" i="1" dirty="0">
              <a:solidFill>
                <a:srgbClr val="64748B"/>
              </a:solidFill>
              <a:latin typeface="Calibri" pitchFamily="34" charset="0"/>
              <a:ea typeface="Calibri" pitchFamily="34" charset="-122"/>
              <a:cs typeface="Calibri" pitchFamily="34" charset="-120"/>
            </a:endParaRPr>
          </a:p>
          <a:p>
            <a:pPr marL="0" indent="0">
              <a:buNone/>
            </a:pPr>
            <a:endParaRPr lang="el-GR" sz="1400" i="1" dirty="0">
              <a:solidFill>
                <a:srgbClr val="64748B"/>
              </a:solidFill>
              <a:latin typeface="Calibri" pitchFamily="34" charset="0"/>
              <a:ea typeface="Calibri" pitchFamily="34" charset="-122"/>
              <a:cs typeface="Calibri" pitchFamily="34" charset="-120"/>
            </a:endParaRPr>
          </a:p>
          <a:p>
            <a:pPr marL="0" indent="0">
              <a:buNone/>
            </a:pPr>
            <a:endParaRPr lang="el-GR" sz="1400" i="1" dirty="0">
              <a:solidFill>
                <a:srgbClr val="64748B"/>
              </a:solidFill>
              <a:latin typeface="Calibri" pitchFamily="34" charset="0"/>
              <a:ea typeface="Calibri" pitchFamily="34" charset="-122"/>
              <a:cs typeface="Calibri" pitchFamily="34" charset="-120"/>
            </a:endParaRPr>
          </a:p>
          <a:p>
            <a:pPr marL="0" indent="0">
              <a:buNone/>
            </a:pPr>
            <a:endParaRPr lang="el-GR" sz="1400" i="1" dirty="0">
              <a:solidFill>
                <a:srgbClr val="64748B"/>
              </a:solidFill>
              <a:latin typeface="Calibri" pitchFamily="34" charset="0"/>
              <a:ea typeface="Calibri" pitchFamily="34" charset="-122"/>
              <a:cs typeface="Calibri" pitchFamily="34" charset="-120"/>
            </a:endParaRPr>
          </a:p>
          <a:p>
            <a:pPr marL="0" indent="0">
              <a:buNone/>
            </a:pPr>
            <a:r>
              <a:rPr lang="en-US" sz="1400" i="1" dirty="0">
                <a:solidFill>
                  <a:srgbClr val="64748B"/>
                </a:solidFill>
                <a:latin typeface="Calibri" pitchFamily="34" charset="0"/>
                <a:ea typeface="Calibri" pitchFamily="34" charset="-122"/>
                <a:cs typeface="Calibri" pitchFamily="34" charset="-120"/>
              </a:rPr>
              <a:t>Σύγκριση προσεγγίσεων για ανίχνευση παρενόχλησης σ</a:t>
            </a:r>
            <a:r>
              <a:rPr lang="el-GR" sz="1400" i="1" dirty="0">
                <a:solidFill>
                  <a:srgbClr val="64748B"/>
                </a:solidFill>
                <a:latin typeface="Calibri" pitchFamily="34" charset="0"/>
                <a:ea typeface="Calibri" pitchFamily="34" charset="-122"/>
                <a:cs typeface="Calibri" pitchFamily="34" charset="-120"/>
              </a:rPr>
              <a:t>τα </a:t>
            </a:r>
            <a:r>
              <a:rPr lang="en-US" sz="1400" i="1" dirty="0">
                <a:solidFill>
                  <a:srgbClr val="64748B"/>
                </a:solidFill>
                <a:latin typeface="Calibri" pitchFamily="34" charset="0"/>
                <a:ea typeface="Calibri" pitchFamily="34" charset="-122"/>
                <a:cs typeface="Calibri" pitchFamily="34" charset="-120"/>
              </a:rPr>
              <a:t>social media</a:t>
            </a:r>
          </a:p>
          <a:p>
            <a:pPr marL="0" indent="0">
              <a:buNone/>
            </a:pPr>
            <a:endParaRPr lang="en-US" sz="1400" i="1" dirty="0">
              <a:solidFill>
                <a:srgbClr val="64748B"/>
              </a:solidFill>
              <a:latin typeface="Calibri" pitchFamily="34" charset="0"/>
              <a:ea typeface="Calibri" pitchFamily="34" charset="-122"/>
              <a:cs typeface="Calibri" pitchFamily="34" charset="-120"/>
            </a:endParaRPr>
          </a:p>
          <a:p>
            <a:pPr marL="0" indent="0">
              <a:buNone/>
            </a:pPr>
            <a:endParaRPr lang="en-US" sz="1400" i="1" dirty="0">
              <a:solidFill>
                <a:srgbClr val="64748B"/>
              </a:solidFill>
              <a:latin typeface="Calibri" pitchFamily="34" charset="0"/>
              <a:ea typeface="Calibri" pitchFamily="34" charset="-122"/>
              <a:cs typeface="Calibri" pitchFamily="34" charset="-120"/>
            </a:endParaRPr>
          </a:p>
          <a:p>
            <a:pPr marL="0" indent="0">
              <a:buNone/>
            </a:pPr>
            <a:endParaRPr lang="en-US" sz="1400" i="1" dirty="0">
              <a:solidFill>
                <a:srgbClr val="64748B"/>
              </a:solidFill>
              <a:latin typeface="Calibri" pitchFamily="34" charset="0"/>
              <a:ea typeface="Calibri" pitchFamily="34" charset="-122"/>
              <a:cs typeface="Calibri" pitchFamily="34" charset="-120"/>
            </a:endParaRPr>
          </a:p>
          <a:p>
            <a:pPr marL="0" indent="0">
              <a:buNone/>
            </a:pPr>
            <a:r>
              <a:rPr lang="el-GR" sz="1400" i="1" dirty="0">
                <a:solidFill>
                  <a:srgbClr val="64748B"/>
                </a:solidFill>
                <a:latin typeface="Calibri" pitchFamily="34" charset="0"/>
                <a:ea typeface="Calibri" pitchFamily="34" charset="-122"/>
                <a:cs typeface="Calibri" pitchFamily="34" charset="-120"/>
              </a:rPr>
              <a:t>Χρήστος Καράτσαλος</a:t>
            </a:r>
          </a:p>
          <a:p>
            <a:pPr marL="0" indent="0">
              <a:buNone/>
            </a:pPr>
            <a:r>
              <a:rPr lang="el-GR" sz="1400" i="1" dirty="0">
                <a:solidFill>
                  <a:srgbClr val="64748B"/>
                </a:solidFill>
                <a:latin typeface="Calibri" pitchFamily="34" charset="0"/>
                <a:ea typeface="Calibri" pitchFamily="34" charset="-122"/>
                <a:cs typeface="Calibri" pitchFamily="34" charset="-120"/>
              </a:rPr>
              <a:t>Φαίδων Γραμματικόπουλος</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38B111-2DAE-E8E9-049E-941B3F11ECF5}"/>
              </a:ext>
            </a:extLst>
          </p:cNvPr>
          <p:cNvPicPr>
            <a:picLocks noChangeAspect="1"/>
          </p:cNvPicPr>
          <p:nvPr/>
        </p:nvPicPr>
        <p:blipFill>
          <a:blip r:embed="rId2"/>
          <a:stretch>
            <a:fillRect/>
          </a:stretch>
        </p:blipFill>
        <p:spPr>
          <a:xfrm>
            <a:off x="946826" y="486383"/>
            <a:ext cx="7315200" cy="4437599"/>
          </a:xfrm>
          <a:prstGeom prst="rect">
            <a:avLst/>
          </a:prstGeom>
        </p:spPr>
      </p:pic>
    </p:spTree>
    <p:extLst>
      <p:ext uri="{BB962C8B-B14F-4D97-AF65-F5344CB8AC3E}">
        <p14:creationId xmlns:p14="http://schemas.microsoft.com/office/powerpoint/2010/main" val="2927617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1B2A4A"/>
                </a:solidFill>
                <a:latin typeface="Georgia" pitchFamily="34" charset="0"/>
                <a:ea typeface="Georgia" pitchFamily="34" charset="-122"/>
                <a:cs typeface="Georgia" pitchFamily="34" charset="-120"/>
              </a:rPr>
              <a:t>Το Πρόβλημα</a:t>
            </a:r>
            <a:endParaRPr lang="en-US" sz="3200" dirty="0"/>
          </a:p>
        </p:txBody>
      </p:sp>
      <p:sp>
        <p:nvSpPr>
          <p:cNvPr id="3" name="Shape 1"/>
          <p:cNvSpPr/>
          <p:nvPr/>
        </p:nvSpPr>
        <p:spPr>
          <a:xfrm>
            <a:off x="457200" y="1051560"/>
            <a:ext cx="3931920" cy="3749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457200" y="1051560"/>
            <a:ext cx="3931920" cy="54864"/>
          </a:xfrm>
          <a:prstGeom prst="rect">
            <a:avLst/>
          </a:prstGeom>
          <a:solidFill>
            <a:srgbClr val="0D9488"/>
          </a:solidFill>
          <a:ln/>
        </p:spPr>
        <p:txBody>
          <a:bodyPr/>
          <a:lstStyle/>
          <a:p>
            <a:endParaRPr lang="en-US"/>
          </a:p>
        </p:txBody>
      </p:sp>
      <p:sp>
        <p:nvSpPr>
          <p:cNvPr id="5" name="Shape 3"/>
          <p:cNvSpPr/>
          <p:nvPr/>
        </p:nvSpPr>
        <p:spPr>
          <a:xfrm>
            <a:off x="658368" y="1298448"/>
            <a:ext cx="457200" cy="457200"/>
          </a:xfrm>
          <a:prstGeom prst="ellipse">
            <a:avLst/>
          </a:prstGeom>
          <a:solidFill>
            <a:srgbClr val="2C6E9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13232" y="1353312"/>
            <a:ext cx="347472" cy="347472"/>
          </a:xfrm>
          <a:prstGeom prst="rect">
            <a:avLst/>
          </a:prstGeom>
        </p:spPr>
      </p:pic>
      <p:sp>
        <p:nvSpPr>
          <p:cNvPr id="7" name="Text 4"/>
          <p:cNvSpPr/>
          <p:nvPr/>
        </p:nvSpPr>
        <p:spPr>
          <a:xfrm>
            <a:off x="1280160" y="1325880"/>
            <a:ext cx="2743200" cy="411480"/>
          </a:xfrm>
          <a:prstGeom prst="rect">
            <a:avLst/>
          </a:prstGeom>
          <a:noFill/>
          <a:ln/>
        </p:spPr>
        <p:txBody>
          <a:bodyPr wrap="square" lIns="0" tIns="0" rIns="0" bIns="0" rtlCol="0" anchor="ctr"/>
          <a:lstStyle/>
          <a:p>
            <a:pPr marL="0" indent="0">
              <a:buNone/>
            </a:pPr>
            <a:r>
              <a:rPr lang="en-US" sz="1600" b="1" dirty="0">
                <a:solidFill>
                  <a:srgbClr val="1B2A4A"/>
                </a:solidFill>
                <a:latin typeface="Georgia" pitchFamily="34" charset="0"/>
                <a:ea typeface="Georgia" pitchFamily="34" charset="-122"/>
                <a:cs typeface="Georgia" pitchFamily="34" charset="-120"/>
              </a:rPr>
              <a:t>Dataset &amp; Task</a:t>
            </a:r>
            <a:endParaRPr lang="en-US" sz="1600" dirty="0"/>
          </a:p>
        </p:txBody>
      </p:sp>
      <p:sp>
        <p:nvSpPr>
          <p:cNvPr id="8" name="Text 5"/>
          <p:cNvSpPr/>
          <p:nvPr/>
        </p:nvSpPr>
        <p:spPr>
          <a:xfrm>
            <a:off x="731520" y="1920240"/>
            <a:ext cx="3383280" cy="7315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Ταξινόμηση tweets σε κατηγορίες παρενόχλησης. Τα δεδομένα περιλαμβάνουν train, validation και test set από ακαδημαϊκό competition.</a:t>
            </a:r>
            <a:endParaRPr lang="en-US" sz="1200" dirty="0"/>
          </a:p>
        </p:txBody>
      </p:sp>
      <p:sp>
        <p:nvSpPr>
          <p:cNvPr id="9" name="Text 6"/>
          <p:cNvSpPr/>
          <p:nvPr/>
        </p:nvSpPr>
        <p:spPr>
          <a:xfrm>
            <a:off x="731520" y="2743200"/>
            <a:ext cx="3383280" cy="1645920"/>
          </a:xfrm>
          <a:prstGeom prst="rect">
            <a:avLst/>
          </a:prstGeom>
          <a:noFill/>
          <a:ln/>
        </p:spPr>
        <p:txBody>
          <a:bodyPr wrap="square" lIns="0" tIns="0" rIns="0" bIns="0" rtlCol="0" anchor="ctr"/>
          <a:lstStyle/>
          <a:p>
            <a:pPr marL="0" indent="0">
              <a:lnSpc>
                <a:spcPct val="150000"/>
              </a:lnSpc>
              <a:buNone/>
            </a:pPr>
            <a:r>
              <a:rPr lang="en-US" sz="1150" b="1" dirty="0">
                <a:solidFill>
                  <a:srgbClr val="0D9488"/>
                </a:solidFill>
                <a:latin typeface="Calibri" pitchFamily="34" charset="0"/>
                <a:ea typeface="Calibri" pitchFamily="34" charset="-122"/>
                <a:cs typeface="Calibri" pitchFamily="34" charset="-120"/>
              </a:rPr>
              <a:t>Part A — Binary: </a:t>
            </a:r>
            <a:r>
              <a:rPr lang="en-US" sz="1150" dirty="0">
                <a:solidFill>
                  <a:srgbClr val="334155"/>
                </a:solidFill>
                <a:latin typeface="Calibri" pitchFamily="34" charset="0"/>
                <a:ea typeface="Calibri" pitchFamily="34" charset="-122"/>
                <a:cs typeface="Calibri" pitchFamily="34" charset="-120"/>
              </a:rPr>
              <a:t>Ξεχωριστός classifier ανά target (harassment ή όχι, SexualH ή όχι, κ.λπ.)</a:t>
            </a:r>
            <a:r>
              <a:rPr lang="en-US" sz="1150" dirty="0">
                <a:solidFill>
                  <a:srgbClr val="000000"/>
                </a:solidFill>
                <a:latin typeface="Calibri" pitchFamily="34" charset="0"/>
                <a:ea typeface="Calibri" pitchFamily="34" charset="-122"/>
                <a:cs typeface="Calibri" pitchFamily="34" charset="-120"/>
              </a:rPr>
              <a:t>
</a:t>
            </a:r>
            <a:r>
              <a:rPr lang="en-US" sz="1150" b="1" dirty="0">
                <a:solidFill>
                  <a:srgbClr val="0D9488"/>
                </a:solidFill>
                <a:latin typeface="Calibri" pitchFamily="34" charset="0"/>
                <a:ea typeface="Calibri" pitchFamily="34" charset="-122"/>
                <a:cs typeface="Calibri" pitchFamily="34" charset="-120"/>
              </a:rPr>
              <a:t>Part B — Multi-class: </a:t>
            </a:r>
            <a:r>
              <a:rPr lang="en-US" sz="1150" dirty="0">
                <a:solidFill>
                  <a:srgbClr val="334155"/>
                </a:solidFill>
                <a:latin typeface="Calibri" pitchFamily="34" charset="0"/>
                <a:ea typeface="Calibri" pitchFamily="34" charset="-122"/>
                <a:cs typeface="Calibri" pitchFamily="34" charset="-120"/>
              </a:rPr>
              <a:t>4 κλάσεις ταυτόχρονα (Non-harassment, IndirectH, SexualH, PhysicalH)</a:t>
            </a:r>
            <a:endParaRPr lang="en-US" sz="1150" dirty="0"/>
          </a:p>
        </p:txBody>
      </p:sp>
      <p:sp>
        <p:nvSpPr>
          <p:cNvPr id="10" name="Text 7"/>
          <p:cNvSpPr/>
          <p:nvPr/>
        </p:nvSpPr>
        <p:spPr>
          <a:xfrm>
            <a:off x="4754880" y="1051560"/>
            <a:ext cx="3931920" cy="411480"/>
          </a:xfrm>
          <a:prstGeom prst="rect">
            <a:avLst/>
          </a:prstGeom>
          <a:noFill/>
          <a:ln/>
        </p:spPr>
        <p:txBody>
          <a:bodyPr wrap="square" lIns="0" tIns="0" rIns="0" bIns="0" rtlCol="0" anchor="ctr"/>
          <a:lstStyle/>
          <a:p>
            <a:pPr marL="0" indent="0">
              <a:buNone/>
            </a:pPr>
            <a:r>
              <a:rPr lang="en-US" sz="1500" b="1" dirty="0">
                <a:solidFill>
                  <a:srgbClr val="1B2A4A"/>
                </a:solidFill>
                <a:latin typeface="Georgia" pitchFamily="34" charset="0"/>
                <a:ea typeface="Georgia" pitchFamily="34" charset="-122"/>
                <a:cs typeface="Georgia" pitchFamily="34" charset="-120"/>
              </a:rPr>
              <a:t>Label Hierarchy</a:t>
            </a:r>
            <a:endParaRPr lang="en-US" sz="1500" dirty="0"/>
          </a:p>
        </p:txBody>
      </p:sp>
      <p:sp>
        <p:nvSpPr>
          <p:cNvPr id="11" name="Shape 8"/>
          <p:cNvSpPr/>
          <p:nvPr/>
        </p:nvSpPr>
        <p:spPr>
          <a:xfrm>
            <a:off x="4754880" y="1508760"/>
            <a:ext cx="393192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9"/>
          <p:cNvSpPr/>
          <p:nvPr/>
        </p:nvSpPr>
        <p:spPr>
          <a:xfrm>
            <a:off x="4754880" y="1508760"/>
            <a:ext cx="64008" cy="594360"/>
          </a:xfrm>
          <a:prstGeom prst="rect">
            <a:avLst/>
          </a:prstGeom>
          <a:solidFill>
            <a:srgbClr val="10B981"/>
          </a:solidFill>
          <a:ln/>
        </p:spPr>
        <p:txBody>
          <a:bodyPr/>
          <a:lstStyle/>
          <a:p>
            <a:endParaRPr lang="en-US"/>
          </a:p>
        </p:txBody>
      </p:sp>
      <p:sp>
        <p:nvSpPr>
          <p:cNvPr id="13" name="Text 10"/>
          <p:cNvSpPr/>
          <p:nvPr/>
        </p:nvSpPr>
        <p:spPr>
          <a:xfrm>
            <a:off x="5029200" y="1536192"/>
            <a:ext cx="2286000" cy="274320"/>
          </a:xfrm>
          <a:prstGeom prst="rect">
            <a:avLst/>
          </a:prstGeom>
          <a:noFill/>
          <a:ln/>
        </p:spPr>
        <p:txBody>
          <a:bodyPr wrap="square" lIns="0" tIns="0" rIns="0" bIns="0" rtlCol="0" anchor="ctr"/>
          <a:lstStyle/>
          <a:p>
            <a:pPr marL="0" indent="0">
              <a:buNone/>
            </a:pPr>
            <a:r>
              <a:rPr lang="en-US" sz="1400" b="1" dirty="0">
                <a:solidFill>
                  <a:srgbClr val="1A202C"/>
                </a:solidFill>
                <a:latin typeface="Georgia" pitchFamily="34" charset="0"/>
                <a:ea typeface="Georgia" pitchFamily="34" charset="-122"/>
                <a:cs typeface="Georgia" pitchFamily="34" charset="-120"/>
              </a:rPr>
              <a:t>Non-harassment</a:t>
            </a:r>
            <a:endParaRPr lang="en-US" sz="1400" dirty="0"/>
          </a:p>
        </p:txBody>
      </p:sp>
      <p:sp>
        <p:nvSpPr>
          <p:cNvPr id="14" name="Text 11"/>
          <p:cNvSpPr/>
          <p:nvPr/>
        </p:nvSpPr>
        <p:spPr>
          <a:xfrm>
            <a:off x="5029200" y="1801368"/>
            <a:ext cx="347472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Κλάση 0 — Κανένα είδος παρενόχλησης</a:t>
            </a:r>
            <a:endParaRPr lang="en-US" sz="1000" dirty="0"/>
          </a:p>
        </p:txBody>
      </p:sp>
      <p:sp>
        <p:nvSpPr>
          <p:cNvPr id="15" name="Shape 12"/>
          <p:cNvSpPr/>
          <p:nvPr/>
        </p:nvSpPr>
        <p:spPr>
          <a:xfrm>
            <a:off x="4754880" y="2286000"/>
            <a:ext cx="3931920" cy="594360"/>
          </a:xfrm>
          <a:prstGeom prst="rect">
            <a:avLst/>
          </a:prstGeom>
          <a:solidFill>
            <a:srgbClr val="E74C3C"/>
          </a:solidFill>
          <a:ln/>
          <a:effectLst>
            <a:outerShdw blurRad="76200" dist="25400" dir="8100000" algn="bl" rotWithShape="0">
              <a:srgbClr val="000000">
                <a:alpha val="12000"/>
              </a:srgbClr>
            </a:outerShdw>
          </a:effectLst>
        </p:spPr>
        <p:txBody>
          <a:bodyPr/>
          <a:lstStyle/>
          <a:p>
            <a:endParaRPr lang="en-US"/>
          </a:p>
        </p:txBody>
      </p:sp>
      <p:sp>
        <p:nvSpPr>
          <p:cNvPr id="16" name="Text 13"/>
          <p:cNvSpPr/>
          <p:nvPr/>
        </p:nvSpPr>
        <p:spPr>
          <a:xfrm>
            <a:off x="5029200" y="2313432"/>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Harassment</a:t>
            </a:r>
            <a:endParaRPr lang="en-US" sz="1400" dirty="0"/>
          </a:p>
        </p:txBody>
      </p:sp>
      <p:sp>
        <p:nvSpPr>
          <p:cNvPr id="17" name="Text 14"/>
          <p:cNvSpPr/>
          <p:nvPr/>
        </p:nvSpPr>
        <p:spPr>
          <a:xfrm>
            <a:off x="5029200" y="2578608"/>
            <a:ext cx="3474720" cy="228600"/>
          </a:xfrm>
          <a:prstGeom prst="rect">
            <a:avLst/>
          </a:prstGeom>
          <a:noFill/>
          <a:ln/>
        </p:spPr>
        <p:txBody>
          <a:bodyPr wrap="square" lIns="0" tIns="0" rIns="0" bIns="0" rtlCol="0" anchor="ctr"/>
          <a:lstStyle/>
          <a:p>
            <a:pPr marL="0" indent="0">
              <a:buNone/>
            </a:pPr>
            <a:r>
              <a:rPr lang="en-US" sz="1000" dirty="0">
                <a:solidFill>
                  <a:srgbClr val="FFCCCC"/>
                </a:solidFill>
                <a:latin typeface="Calibri" pitchFamily="34" charset="0"/>
                <a:ea typeface="Calibri" pitchFamily="34" charset="-122"/>
                <a:cs typeface="Calibri" pitchFamily="34" charset="-120"/>
              </a:rPr>
              <a:t>Binary target — περιλαμβάνει 3 υποκατηγορίες ↓</a:t>
            </a:r>
            <a:endParaRPr lang="en-US" sz="1000" dirty="0"/>
          </a:p>
        </p:txBody>
      </p:sp>
      <p:sp>
        <p:nvSpPr>
          <p:cNvPr id="18" name="Shape 15"/>
          <p:cNvSpPr/>
          <p:nvPr/>
        </p:nvSpPr>
        <p:spPr>
          <a:xfrm>
            <a:off x="5074920" y="2880360"/>
            <a:ext cx="27432" cy="1920240"/>
          </a:xfrm>
          <a:prstGeom prst="rect">
            <a:avLst/>
          </a:prstGeom>
          <a:solidFill>
            <a:srgbClr val="E74C3C"/>
          </a:solidFill>
          <a:ln/>
        </p:spPr>
        <p:txBody>
          <a:bodyPr/>
          <a:lstStyle/>
          <a:p>
            <a:endParaRPr lang="en-US"/>
          </a:p>
        </p:txBody>
      </p:sp>
      <p:sp>
        <p:nvSpPr>
          <p:cNvPr id="19" name="Shape 16"/>
          <p:cNvSpPr/>
          <p:nvPr/>
        </p:nvSpPr>
        <p:spPr>
          <a:xfrm>
            <a:off x="5074920" y="3200400"/>
            <a:ext cx="228600" cy="27432"/>
          </a:xfrm>
          <a:prstGeom prst="rect">
            <a:avLst/>
          </a:prstGeom>
          <a:solidFill>
            <a:srgbClr val="E74C3C"/>
          </a:solidFill>
          <a:ln/>
        </p:spPr>
        <p:txBody>
          <a:bodyPr/>
          <a:lstStyle/>
          <a:p>
            <a:endParaRPr lang="en-US"/>
          </a:p>
        </p:txBody>
      </p:sp>
      <p:sp>
        <p:nvSpPr>
          <p:cNvPr id="20" name="Shape 17"/>
          <p:cNvSpPr/>
          <p:nvPr/>
        </p:nvSpPr>
        <p:spPr>
          <a:xfrm>
            <a:off x="5394960" y="2971800"/>
            <a:ext cx="3291840" cy="53035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1" name="Shape 18"/>
          <p:cNvSpPr/>
          <p:nvPr/>
        </p:nvSpPr>
        <p:spPr>
          <a:xfrm>
            <a:off x="5394960" y="2971800"/>
            <a:ext cx="64008" cy="530352"/>
          </a:xfrm>
          <a:prstGeom prst="rect">
            <a:avLst/>
          </a:prstGeom>
          <a:solidFill>
            <a:srgbClr val="7C3AED"/>
          </a:solidFill>
          <a:ln/>
        </p:spPr>
        <p:txBody>
          <a:bodyPr/>
          <a:lstStyle/>
          <a:p>
            <a:endParaRPr lang="en-US"/>
          </a:p>
        </p:txBody>
      </p:sp>
      <p:sp>
        <p:nvSpPr>
          <p:cNvPr id="22" name="Text 19"/>
          <p:cNvSpPr/>
          <p:nvPr/>
        </p:nvSpPr>
        <p:spPr>
          <a:xfrm>
            <a:off x="5623560" y="2990088"/>
            <a:ext cx="2834640" cy="256032"/>
          </a:xfrm>
          <a:prstGeom prst="rect">
            <a:avLst/>
          </a:prstGeom>
          <a:noFill/>
          <a:ln/>
        </p:spPr>
        <p:txBody>
          <a:bodyPr wrap="square" lIns="0" tIns="0" rIns="0" bIns="0" rtlCol="0" anchor="ctr"/>
          <a:lstStyle/>
          <a:p>
            <a:pPr marL="0" indent="0">
              <a:buNone/>
            </a:pPr>
            <a:r>
              <a:rPr lang="en-US" sz="1300" b="1" dirty="0">
                <a:solidFill>
                  <a:srgbClr val="1A202C"/>
                </a:solidFill>
                <a:latin typeface="Georgia" pitchFamily="34" charset="0"/>
                <a:ea typeface="Georgia" pitchFamily="34" charset="-122"/>
                <a:cs typeface="Georgia" pitchFamily="34" charset="-120"/>
              </a:rPr>
              <a:t>SexualH</a:t>
            </a:r>
            <a:endParaRPr lang="en-US" sz="1300" dirty="0"/>
          </a:p>
        </p:txBody>
      </p:sp>
      <p:sp>
        <p:nvSpPr>
          <p:cNvPr id="23" name="Text 20"/>
          <p:cNvSpPr/>
          <p:nvPr/>
        </p:nvSpPr>
        <p:spPr>
          <a:xfrm>
            <a:off x="5623560" y="3246120"/>
            <a:ext cx="283464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Κλάση 2 — Σεξουαλική παρενόχληση</a:t>
            </a:r>
            <a:endParaRPr lang="en-US" sz="1000" dirty="0"/>
          </a:p>
        </p:txBody>
      </p:sp>
      <p:sp>
        <p:nvSpPr>
          <p:cNvPr id="24" name="Shape 21"/>
          <p:cNvSpPr/>
          <p:nvPr/>
        </p:nvSpPr>
        <p:spPr>
          <a:xfrm>
            <a:off x="5074920" y="3840480"/>
            <a:ext cx="228600" cy="27432"/>
          </a:xfrm>
          <a:prstGeom prst="rect">
            <a:avLst/>
          </a:prstGeom>
          <a:solidFill>
            <a:srgbClr val="E74C3C"/>
          </a:solidFill>
          <a:ln/>
        </p:spPr>
        <p:txBody>
          <a:bodyPr/>
          <a:lstStyle/>
          <a:p>
            <a:endParaRPr lang="en-US"/>
          </a:p>
        </p:txBody>
      </p:sp>
      <p:sp>
        <p:nvSpPr>
          <p:cNvPr id="25" name="Shape 22"/>
          <p:cNvSpPr/>
          <p:nvPr/>
        </p:nvSpPr>
        <p:spPr>
          <a:xfrm>
            <a:off x="5394960" y="3611880"/>
            <a:ext cx="3291840" cy="53035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6" name="Shape 23"/>
          <p:cNvSpPr/>
          <p:nvPr/>
        </p:nvSpPr>
        <p:spPr>
          <a:xfrm>
            <a:off x="5394960" y="3611880"/>
            <a:ext cx="64008" cy="530352"/>
          </a:xfrm>
          <a:prstGeom prst="rect">
            <a:avLst/>
          </a:prstGeom>
          <a:solidFill>
            <a:srgbClr val="F59E0B"/>
          </a:solidFill>
          <a:ln/>
        </p:spPr>
        <p:txBody>
          <a:bodyPr/>
          <a:lstStyle/>
          <a:p>
            <a:endParaRPr lang="en-US"/>
          </a:p>
        </p:txBody>
      </p:sp>
      <p:sp>
        <p:nvSpPr>
          <p:cNvPr id="27" name="Text 24"/>
          <p:cNvSpPr/>
          <p:nvPr/>
        </p:nvSpPr>
        <p:spPr>
          <a:xfrm>
            <a:off x="5623560" y="3630168"/>
            <a:ext cx="2834640" cy="256032"/>
          </a:xfrm>
          <a:prstGeom prst="rect">
            <a:avLst/>
          </a:prstGeom>
          <a:noFill/>
          <a:ln/>
        </p:spPr>
        <p:txBody>
          <a:bodyPr wrap="square" lIns="0" tIns="0" rIns="0" bIns="0" rtlCol="0" anchor="ctr"/>
          <a:lstStyle/>
          <a:p>
            <a:pPr marL="0" indent="0">
              <a:buNone/>
            </a:pPr>
            <a:r>
              <a:rPr lang="en-US" sz="1300" b="1" dirty="0">
                <a:solidFill>
                  <a:srgbClr val="1A202C"/>
                </a:solidFill>
                <a:latin typeface="Georgia" pitchFamily="34" charset="0"/>
                <a:ea typeface="Georgia" pitchFamily="34" charset="-122"/>
                <a:cs typeface="Georgia" pitchFamily="34" charset="-120"/>
              </a:rPr>
              <a:t>IndirectH</a:t>
            </a:r>
            <a:endParaRPr lang="en-US" sz="1300" dirty="0"/>
          </a:p>
        </p:txBody>
      </p:sp>
      <p:sp>
        <p:nvSpPr>
          <p:cNvPr id="28" name="Text 25"/>
          <p:cNvSpPr/>
          <p:nvPr/>
        </p:nvSpPr>
        <p:spPr>
          <a:xfrm>
            <a:off x="5623560" y="3886200"/>
            <a:ext cx="283464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Κλάση 1 — Έμμεση παρενόχληση</a:t>
            </a:r>
            <a:endParaRPr lang="en-US" sz="1000" dirty="0"/>
          </a:p>
        </p:txBody>
      </p:sp>
      <p:sp>
        <p:nvSpPr>
          <p:cNvPr id="29" name="Shape 26"/>
          <p:cNvSpPr/>
          <p:nvPr/>
        </p:nvSpPr>
        <p:spPr>
          <a:xfrm>
            <a:off x="5074920" y="4480560"/>
            <a:ext cx="228600" cy="27432"/>
          </a:xfrm>
          <a:prstGeom prst="rect">
            <a:avLst/>
          </a:prstGeom>
          <a:solidFill>
            <a:srgbClr val="E74C3C"/>
          </a:solidFill>
          <a:ln/>
        </p:spPr>
        <p:txBody>
          <a:bodyPr/>
          <a:lstStyle/>
          <a:p>
            <a:endParaRPr lang="en-US"/>
          </a:p>
        </p:txBody>
      </p:sp>
      <p:sp>
        <p:nvSpPr>
          <p:cNvPr id="30" name="Shape 27"/>
          <p:cNvSpPr/>
          <p:nvPr/>
        </p:nvSpPr>
        <p:spPr>
          <a:xfrm>
            <a:off x="5394960" y="4251960"/>
            <a:ext cx="3291840" cy="53035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31" name="Shape 28"/>
          <p:cNvSpPr/>
          <p:nvPr/>
        </p:nvSpPr>
        <p:spPr>
          <a:xfrm>
            <a:off x="5394960" y="4251960"/>
            <a:ext cx="64008" cy="530352"/>
          </a:xfrm>
          <a:prstGeom prst="rect">
            <a:avLst/>
          </a:prstGeom>
          <a:solidFill>
            <a:srgbClr val="2C6E91"/>
          </a:solidFill>
          <a:ln/>
        </p:spPr>
        <p:txBody>
          <a:bodyPr/>
          <a:lstStyle/>
          <a:p>
            <a:endParaRPr lang="en-US"/>
          </a:p>
        </p:txBody>
      </p:sp>
      <p:sp>
        <p:nvSpPr>
          <p:cNvPr id="32" name="Text 29"/>
          <p:cNvSpPr/>
          <p:nvPr/>
        </p:nvSpPr>
        <p:spPr>
          <a:xfrm>
            <a:off x="5623560" y="4270248"/>
            <a:ext cx="2834640" cy="256032"/>
          </a:xfrm>
          <a:prstGeom prst="rect">
            <a:avLst/>
          </a:prstGeom>
          <a:noFill/>
          <a:ln/>
        </p:spPr>
        <p:txBody>
          <a:bodyPr wrap="square" lIns="0" tIns="0" rIns="0" bIns="0" rtlCol="0" anchor="ctr"/>
          <a:lstStyle/>
          <a:p>
            <a:pPr marL="0" indent="0">
              <a:buNone/>
            </a:pPr>
            <a:r>
              <a:rPr lang="en-US" sz="1300" b="1" dirty="0">
                <a:solidFill>
                  <a:srgbClr val="1A202C"/>
                </a:solidFill>
                <a:latin typeface="Georgia" pitchFamily="34" charset="0"/>
                <a:ea typeface="Georgia" pitchFamily="34" charset="-122"/>
                <a:cs typeface="Georgia" pitchFamily="34" charset="-120"/>
              </a:rPr>
              <a:t>PhysicalH</a:t>
            </a:r>
            <a:endParaRPr lang="en-US" sz="1300" dirty="0"/>
          </a:p>
        </p:txBody>
      </p:sp>
      <p:sp>
        <p:nvSpPr>
          <p:cNvPr id="33" name="Text 30"/>
          <p:cNvSpPr/>
          <p:nvPr/>
        </p:nvSpPr>
        <p:spPr>
          <a:xfrm>
            <a:off x="5623560" y="4526280"/>
            <a:ext cx="283464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Κλάση 3 — Σωματική παρενόχληση</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600" b="1" dirty="0">
                <a:solidFill>
                  <a:srgbClr val="1B2A4A"/>
                </a:solidFill>
                <a:latin typeface="Georgia" pitchFamily="34" charset="0"/>
                <a:ea typeface="Georgia" pitchFamily="34" charset="-122"/>
                <a:cs typeface="Georgia" pitchFamily="34" charset="-120"/>
              </a:rPr>
              <a:t>Traditional ML — Preprocessing</a:t>
            </a:r>
            <a:endParaRPr lang="en-US" sz="2600" dirty="0"/>
          </a:p>
        </p:txBody>
      </p:sp>
      <p:sp>
        <p:nvSpPr>
          <p:cNvPr id="3" name="Shape 1"/>
          <p:cNvSpPr/>
          <p:nvPr/>
        </p:nvSpPr>
        <p:spPr>
          <a:xfrm>
            <a:off x="457200" y="1005840"/>
            <a:ext cx="822960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457200" y="1005840"/>
            <a:ext cx="8229600" cy="54864"/>
          </a:xfrm>
          <a:prstGeom prst="rect">
            <a:avLst/>
          </a:prstGeom>
          <a:solidFill>
            <a:srgbClr val="0D9488"/>
          </a:solidFill>
          <a:ln/>
        </p:spPr>
        <p:txBody>
          <a:bodyPr/>
          <a:lstStyle/>
          <a:p>
            <a:endParaRPr lang="en-US"/>
          </a:p>
        </p:txBody>
      </p:sp>
      <p:sp>
        <p:nvSpPr>
          <p:cNvPr id="5" name="Shape 3"/>
          <p:cNvSpPr/>
          <p:nvPr/>
        </p:nvSpPr>
        <p:spPr>
          <a:xfrm>
            <a:off x="685800" y="1234440"/>
            <a:ext cx="438912" cy="438912"/>
          </a:xfrm>
          <a:prstGeom prst="ellipse">
            <a:avLst/>
          </a:prstGeom>
          <a:solidFill>
            <a:srgbClr val="0D948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49808" y="1298448"/>
            <a:ext cx="310896" cy="310896"/>
          </a:xfrm>
          <a:prstGeom prst="rect">
            <a:avLst/>
          </a:prstGeom>
        </p:spPr>
      </p:pic>
      <p:sp>
        <p:nvSpPr>
          <p:cNvPr id="7" name="Text 4"/>
          <p:cNvSpPr/>
          <p:nvPr/>
        </p:nvSpPr>
        <p:spPr>
          <a:xfrm>
            <a:off x="1280160" y="1280160"/>
            <a:ext cx="4572000" cy="365760"/>
          </a:xfrm>
          <a:prstGeom prst="rect">
            <a:avLst/>
          </a:prstGeom>
          <a:noFill/>
          <a:ln/>
        </p:spPr>
        <p:txBody>
          <a:bodyPr wrap="square" lIns="0" tIns="0" rIns="0" bIns="0" rtlCol="0" anchor="ctr"/>
          <a:lstStyle/>
          <a:p>
            <a:pPr marL="0" indent="0">
              <a:buNone/>
            </a:pPr>
            <a:r>
              <a:rPr lang="en-US" sz="1500" b="1" dirty="0">
                <a:solidFill>
                  <a:srgbClr val="1B2A4A"/>
                </a:solidFill>
                <a:latin typeface="Georgia" pitchFamily="34" charset="0"/>
                <a:ea typeface="Georgia" pitchFamily="34" charset="-122"/>
                <a:cs typeface="Georgia" pitchFamily="34" charset="-120"/>
              </a:rPr>
              <a:t>Tweet-Specific Preprocessing Pipeline</a:t>
            </a:r>
            <a:endParaRPr lang="en-US" sz="1500" dirty="0"/>
          </a:p>
        </p:txBody>
      </p:sp>
      <p:sp>
        <p:nvSpPr>
          <p:cNvPr id="8" name="Text 5"/>
          <p:cNvSpPr/>
          <p:nvPr/>
        </p:nvSpPr>
        <p:spPr>
          <a:xfrm>
            <a:off x="731520" y="1737360"/>
            <a:ext cx="7680960" cy="548640"/>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Κάθε tweet περνάει από μια σειρά κανόνων καθαρισμού πριν τη δημιουργία features. Ο στόχος είναι να αφαιρεθεί θόρυβος (URLs, mentions) και να κανονικοποιηθούν παραλλαγές (elongation, capitalization).</a:t>
            </a:r>
            <a:endParaRPr lang="en-US" sz="1150" dirty="0"/>
          </a:p>
        </p:txBody>
      </p:sp>
      <p:sp>
        <p:nvSpPr>
          <p:cNvPr id="9" name="Shape 6"/>
          <p:cNvSpPr/>
          <p:nvPr/>
        </p:nvSpPr>
        <p:spPr>
          <a:xfrm>
            <a:off x="731520" y="2423160"/>
            <a:ext cx="3657600" cy="411480"/>
          </a:xfrm>
          <a:prstGeom prst="rect">
            <a:avLst/>
          </a:prstGeom>
          <a:solidFill>
            <a:srgbClr val="EDF2F7"/>
          </a:solidFill>
          <a:ln/>
        </p:spPr>
        <p:txBody>
          <a:bodyPr/>
          <a:lstStyle/>
          <a:p>
            <a:endParaRPr lang="en-US"/>
          </a:p>
        </p:txBody>
      </p:sp>
      <p:sp>
        <p:nvSpPr>
          <p:cNvPr id="10" name="Text 7"/>
          <p:cNvSpPr/>
          <p:nvPr/>
        </p:nvSpPr>
        <p:spPr>
          <a:xfrm>
            <a:off x="822960" y="2441448"/>
            <a:ext cx="146304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Lowercasing</a:t>
            </a:r>
            <a:endParaRPr lang="en-US" sz="1100" dirty="0"/>
          </a:p>
        </p:txBody>
      </p:sp>
      <p:sp>
        <p:nvSpPr>
          <p:cNvPr id="11" name="Text 8"/>
          <p:cNvSpPr/>
          <p:nvPr/>
        </p:nvSpPr>
        <p:spPr>
          <a:xfrm>
            <a:off x="2286000" y="2441448"/>
            <a:ext cx="201168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Ενοποίηση κεφαλαίων/πεζών</a:t>
            </a:r>
            <a:endParaRPr lang="en-US" sz="1000" dirty="0"/>
          </a:p>
        </p:txBody>
      </p:sp>
      <p:sp>
        <p:nvSpPr>
          <p:cNvPr id="12" name="Shape 9"/>
          <p:cNvSpPr/>
          <p:nvPr/>
        </p:nvSpPr>
        <p:spPr>
          <a:xfrm>
            <a:off x="731520" y="2926080"/>
            <a:ext cx="3657600" cy="411480"/>
          </a:xfrm>
          <a:prstGeom prst="rect">
            <a:avLst/>
          </a:prstGeom>
          <a:solidFill>
            <a:srgbClr val="FFFFFF"/>
          </a:solidFill>
          <a:ln/>
        </p:spPr>
        <p:txBody>
          <a:bodyPr/>
          <a:lstStyle/>
          <a:p>
            <a:endParaRPr lang="en-US"/>
          </a:p>
        </p:txBody>
      </p:sp>
      <p:sp>
        <p:nvSpPr>
          <p:cNvPr id="13" name="Text 10"/>
          <p:cNvSpPr/>
          <p:nvPr/>
        </p:nvSpPr>
        <p:spPr>
          <a:xfrm>
            <a:off x="822960" y="2944368"/>
            <a:ext cx="146304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Αφαίρεση URLs</a:t>
            </a:r>
            <a:endParaRPr lang="en-US" sz="1100" dirty="0"/>
          </a:p>
        </p:txBody>
      </p:sp>
      <p:sp>
        <p:nvSpPr>
          <p:cNvPr id="14" name="Text 11"/>
          <p:cNvSpPr/>
          <p:nvPr/>
        </p:nvSpPr>
        <p:spPr>
          <a:xfrm>
            <a:off x="2286000" y="2944368"/>
            <a:ext cx="201168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http://, www, https:// → κενό</a:t>
            </a:r>
            <a:endParaRPr lang="en-US" sz="1000" dirty="0"/>
          </a:p>
        </p:txBody>
      </p:sp>
      <p:sp>
        <p:nvSpPr>
          <p:cNvPr id="15" name="Shape 12"/>
          <p:cNvSpPr/>
          <p:nvPr/>
        </p:nvSpPr>
        <p:spPr>
          <a:xfrm>
            <a:off x="731520" y="3429000"/>
            <a:ext cx="3657600" cy="411480"/>
          </a:xfrm>
          <a:prstGeom prst="rect">
            <a:avLst/>
          </a:prstGeom>
          <a:solidFill>
            <a:srgbClr val="EDF2F7"/>
          </a:solidFill>
          <a:ln/>
        </p:spPr>
        <p:txBody>
          <a:bodyPr/>
          <a:lstStyle/>
          <a:p>
            <a:endParaRPr lang="en-US"/>
          </a:p>
        </p:txBody>
      </p:sp>
      <p:sp>
        <p:nvSpPr>
          <p:cNvPr id="16" name="Text 13"/>
          <p:cNvSpPr/>
          <p:nvPr/>
        </p:nvSpPr>
        <p:spPr>
          <a:xfrm>
            <a:off x="822960" y="3447288"/>
            <a:ext cx="146304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Αφαίρεση @mentions</a:t>
            </a:r>
            <a:endParaRPr lang="en-US" sz="1100" dirty="0"/>
          </a:p>
        </p:txBody>
      </p:sp>
      <p:sp>
        <p:nvSpPr>
          <p:cNvPr id="17" name="Text 14"/>
          <p:cNvSpPr/>
          <p:nvPr/>
        </p:nvSpPr>
        <p:spPr>
          <a:xfrm>
            <a:off x="2286000" y="3447288"/>
            <a:ext cx="201168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@username → κενό</a:t>
            </a:r>
            <a:endParaRPr lang="en-US" sz="1000" dirty="0"/>
          </a:p>
        </p:txBody>
      </p:sp>
      <p:sp>
        <p:nvSpPr>
          <p:cNvPr id="18" name="Shape 15"/>
          <p:cNvSpPr/>
          <p:nvPr/>
        </p:nvSpPr>
        <p:spPr>
          <a:xfrm>
            <a:off x="731520" y="3931920"/>
            <a:ext cx="3657600" cy="411480"/>
          </a:xfrm>
          <a:prstGeom prst="rect">
            <a:avLst/>
          </a:prstGeom>
          <a:solidFill>
            <a:srgbClr val="FFFFFF"/>
          </a:solidFill>
          <a:ln/>
        </p:spPr>
        <p:txBody>
          <a:bodyPr/>
          <a:lstStyle/>
          <a:p>
            <a:endParaRPr lang="en-US"/>
          </a:p>
        </p:txBody>
      </p:sp>
      <p:sp>
        <p:nvSpPr>
          <p:cNvPr id="19" name="Text 16"/>
          <p:cNvSpPr/>
          <p:nvPr/>
        </p:nvSpPr>
        <p:spPr>
          <a:xfrm>
            <a:off x="822960" y="3950208"/>
            <a:ext cx="146304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Hashtags → words</a:t>
            </a:r>
            <a:endParaRPr lang="en-US" sz="1100" dirty="0"/>
          </a:p>
        </p:txBody>
      </p:sp>
      <p:sp>
        <p:nvSpPr>
          <p:cNvPr id="20" name="Text 17"/>
          <p:cNvSpPr/>
          <p:nvPr/>
        </p:nvSpPr>
        <p:spPr>
          <a:xfrm>
            <a:off x="2286000" y="3950208"/>
            <a:ext cx="201168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#hate → hate</a:t>
            </a:r>
            <a:endParaRPr lang="en-US" sz="1000" dirty="0"/>
          </a:p>
        </p:txBody>
      </p:sp>
      <p:sp>
        <p:nvSpPr>
          <p:cNvPr id="21" name="Shape 18"/>
          <p:cNvSpPr/>
          <p:nvPr/>
        </p:nvSpPr>
        <p:spPr>
          <a:xfrm>
            <a:off x="4663440" y="2423160"/>
            <a:ext cx="3749040" cy="411480"/>
          </a:xfrm>
          <a:prstGeom prst="rect">
            <a:avLst/>
          </a:prstGeom>
          <a:solidFill>
            <a:srgbClr val="EDF2F7"/>
          </a:solidFill>
          <a:ln/>
        </p:spPr>
        <p:txBody>
          <a:bodyPr/>
          <a:lstStyle/>
          <a:p>
            <a:endParaRPr lang="en-US"/>
          </a:p>
        </p:txBody>
      </p:sp>
      <p:sp>
        <p:nvSpPr>
          <p:cNvPr id="22" name="Text 19"/>
          <p:cNvSpPr/>
          <p:nvPr/>
        </p:nvSpPr>
        <p:spPr>
          <a:xfrm>
            <a:off x="4754880" y="2441448"/>
            <a:ext cx="164592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Elongated chars</a:t>
            </a:r>
            <a:endParaRPr lang="en-US" sz="1100" dirty="0"/>
          </a:p>
        </p:txBody>
      </p:sp>
      <p:sp>
        <p:nvSpPr>
          <p:cNvPr id="23" name="Text 20"/>
          <p:cNvSpPr/>
          <p:nvPr/>
        </p:nvSpPr>
        <p:spPr>
          <a:xfrm>
            <a:off x="6400800" y="2441448"/>
            <a:ext cx="192024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haaate → haate (max 2 repeats)</a:t>
            </a:r>
            <a:endParaRPr lang="en-US" sz="1000" dirty="0"/>
          </a:p>
        </p:txBody>
      </p:sp>
      <p:sp>
        <p:nvSpPr>
          <p:cNvPr id="24" name="Shape 21"/>
          <p:cNvSpPr/>
          <p:nvPr/>
        </p:nvSpPr>
        <p:spPr>
          <a:xfrm>
            <a:off x="4663440" y="2926080"/>
            <a:ext cx="3749040" cy="411480"/>
          </a:xfrm>
          <a:prstGeom prst="rect">
            <a:avLst/>
          </a:prstGeom>
          <a:solidFill>
            <a:srgbClr val="FFFFFF"/>
          </a:solidFill>
          <a:ln/>
        </p:spPr>
        <p:txBody>
          <a:bodyPr/>
          <a:lstStyle/>
          <a:p>
            <a:endParaRPr lang="en-US"/>
          </a:p>
        </p:txBody>
      </p:sp>
      <p:sp>
        <p:nvSpPr>
          <p:cNvPr id="25" name="Text 22"/>
          <p:cNvSpPr/>
          <p:nvPr/>
        </p:nvSpPr>
        <p:spPr>
          <a:xfrm>
            <a:off x="4754880" y="2944368"/>
            <a:ext cx="164592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Αριθμοί → NUM</a:t>
            </a:r>
            <a:endParaRPr lang="en-US" sz="1100" dirty="0"/>
          </a:p>
        </p:txBody>
      </p:sp>
      <p:sp>
        <p:nvSpPr>
          <p:cNvPr id="26" name="Text 23"/>
          <p:cNvSpPr/>
          <p:nvPr/>
        </p:nvSpPr>
        <p:spPr>
          <a:xfrm>
            <a:off x="6400800" y="2944368"/>
            <a:ext cx="192024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Αντικατάσταση αριθμών με token</a:t>
            </a:r>
            <a:endParaRPr lang="en-US" sz="1000" dirty="0"/>
          </a:p>
        </p:txBody>
      </p:sp>
      <p:sp>
        <p:nvSpPr>
          <p:cNvPr id="27" name="Shape 24"/>
          <p:cNvSpPr/>
          <p:nvPr/>
        </p:nvSpPr>
        <p:spPr>
          <a:xfrm>
            <a:off x="4663440" y="3429000"/>
            <a:ext cx="3749040" cy="411480"/>
          </a:xfrm>
          <a:prstGeom prst="rect">
            <a:avLst/>
          </a:prstGeom>
          <a:solidFill>
            <a:srgbClr val="EDF2F7"/>
          </a:solidFill>
          <a:ln/>
        </p:spPr>
        <p:txBody>
          <a:bodyPr/>
          <a:lstStyle/>
          <a:p>
            <a:endParaRPr lang="en-US"/>
          </a:p>
        </p:txBody>
      </p:sp>
      <p:sp>
        <p:nvSpPr>
          <p:cNvPr id="28" name="Text 25"/>
          <p:cNvSpPr/>
          <p:nvPr/>
        </p:nvSpPr>
        <p:spPr>
          <a:xfrm>
            <a:off x="4754880" y="3447288"/>
            <a:ext cx="164592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Αφαίρεση punctuation &amp; stopwords</a:t>
            </a:r>
            <a:endParaRPr lang="en-US" sz="1100" dirty="0"/>
          </a:p>
        </p:txBody>
      </p:sp>
      <p:sp>
        <p:nvSpPr>
          <p:cNvPr id="29" name="Text 26"/>
          <p:cNvSpPr/>
          <p:nvPr/>
        </p:nvSpPr>
        <p:spPr>
          <a:xfrm>
            <a:off x="6400800" y="3447288"/>
            <a:ext cx="192024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NLTK English stopwords</a:t>
            </a:r>
            <a:endParaRPr lang="en-US" sz="1000" dirty="0"/>
          </a:p>
        </p:txBody>
      </p:sp>
      <p:sp>
        <p:nvSpPr>
          <p:cNvPr id="30" name="Shape 27"/>
          <p:cNvSpPr/>
          <p:nvPr/>
        </p:nvSpPr>
        <p:spPr>
          <a:xfrm>
            <a:off x="4663440" y="3931920"/>
            <a:ext cx="3749040" cy="411480"/>
          </a:xfrm>
          <a:prstGeom prst="rect">
            <a:avLst/>
          </a:prstGeom>
          <a:solidFill>
            <a:srgbClr val="FFFFFF"/>
          </a:solidFill>
          <a:ln/>
        </p:spPr>
        <p:txBody>
          <a:bodyPr/>
          <a:lstStyle/>
          <a:p>
            <a:endParaRPr lang="en-US"/>
          </a:p>
        </p:txBody>
      </p:sp>
      <p:sp>
        <p:nvSpPr>
          <p:cNvPr id="31" name="Text 28"/>
          <p:cNvSpPr/>
          <p:nvPr/>
        </p:nvSpPr>
        <p:spPr>
          <a:xfrm>
            <a:off x="4754880" y="3950208"/>
            <a:ext cx="164592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Snowball Stemming</a:t>
            </a:r>
            <a:endParaRPr lang="en-US" sz="1100" dirty="0"/>
          </a:p>
        </p:txBody>
      </p:sp>
      <p:sp>
        <p:nvSpPr>
          <p:cNvPr id="32" name="Text 29"/>
          <p:cNvSpPr/>
          <p:nvPr/>
        </p:nvSpPr>
        <p:spPr>
          <a:xfrm>
            <a:off x="6400800" y="3950208"/>
            <a:ext cx="192024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running → run, harassment → harass</a:t>
            </a:r>
            <a:endParaRPr lang="en-US" sz="1000" dirty="0"/>
          </a:p>
        </p:txBody>
      </p:sp>
      <p:sp>
        <p:nvSpPr>
          <p:cNvPr id="33" name="Shape 30"/>
          <p:cNvSpPr/>
          <p:nvPr/>
        </p:nvSpPr>
        <p:spPr>
          <a:xfrm>
            <a:off x="731520" y="4434840"/>
            <a:ext cx="7680960" cy="320040"/>
          </a:xfrm>
          <a:prstGeom prst="rect">
            <a:avLst/>
          </a:prstGeom>
          <a:solidFill>
            <a:srgbClr val="EDF2F7"/>
          </a:solidFill>
          <a:ln/>
        </p:spPr>
        <p:txBody>
          <a:bodyPr/>
          <a:lstStyle/>
          <a:p>
            <a:endParaRPr lang="en-US"/>
          </a:p>
        </p:txBody>
      </p:sp>
      <p:sp>
        <p:nvSpPr>
          <p:cNvPr id="34" name="Text 31"/>
          <p:cNvSpPr/>
          <p:nvPr/>
        </p:nvSpPr>
        <p:spPr>
          <a:xfrm>
            <a:off x="822960" y="4434840"/>
            <a:ext cx="7498080" cy="320040"/>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Παράδειγμα: </a:t>
            </a:r>
            <a:r>
              <a:rPr lang="en-US" sz="1000" dirty="0">
                <a:solidFill>
                  <a:srgbClr val="E74C3C"/>
                </a:solidFill>
                <a:latin typeface="Calibri" pitchFamily="34" charset="0"/>
                <a:ea typeface="Calibri" pitchFamily="34" charset="-122"/>
                <a:cs typeface="Calibri" pitchFamily="34" charset="-120"/>
              </a:rPr>
              <a:t>"@john I HAAATE you!!! #violence http://t.co/x"</a:t>
            </a:r>
            <a:r>
              <a:rPr lang="en-US" sz="1000" dirty="0">
                <a:solidFill>
                  <a:srgbClr val="64748B"/>
                </a:solidFill>
                <a:latin typeface="Calibri" pitchFamily="34" charset="0"/>
                <a:ea typeface="Calibri" pitchFamily="34" charset="-122"/>
                <a:cs typeface="Calibri" pitchFamily="34" charset="-120"/>
              </a:rPr>
              <a:t>  →  </a:t>
            </a:r>
            <a:r>
              <a:rPr lang="en-US" sz="1000" b="1" dirty="0">
                <a:solidFill>
                  <a:srgbClr val="0D9488"/>
                </a:solidFill>
                <a:latin typeface="Calibri" pitchFamily="34" charset="0"/>
                <a:ea typeface="Calibri" pitchFamily="34" charset="-122"/>
                <a:cs typeface="Calibri" pitchFamily="34" charset="-120"/>
              </a:rPr>
              <a:t>"haate violenc"</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B2A4A"/>
                </a:solidFill>
                <a:latin typeface="Georgia" pitchFamily="34" charset="0"/>
                <a:ea typeface="Georgia" pitchFamily="34" charset="-122"/>
                <a:cs typeface="Georgia" pitchFamily="34" charset="-120"/>
              </a:rPr>
              <a:t>Traditional ML — Feature Extraction</a:t>
            </a:r>
            <a:endParaRPr lang="en-US" sz="2600" dirty="0"/>
          </a:p>
        </p:txBody>
      </p:sp>
      <p:sp>
        <p:nvSpPr>
          <p:cNvPr id="3" name="Text 1"/>
          <p:cNvSpPr/>
          <p:nvPr/>
        </p:nvSpPr>
        <p:spPr>
          <a:xfrm>
            <a:off x="457200" y="777240"/>
            <a:ext cx="822960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Μετατροπή κειμένου σε αριθμητικά features μέσω TF-IDF (Term Frequency – Inverse Document Frequency)</a:t>
            </a:r>
            <a:endParaRPr lang="en-US" sz="1200" dirty="0"/>
          </a:p>
        </p:txBody>
      </p:sp>
      <p:sp>
        <p:nvSpPr>
          <p:cNvPr id="4" name="Shape 2"/>
          <p:cNvSpPr/>
          <p:nvPr/>
        </p:nvSpPr>
        <p:spPr>
          <a:xfrm>
            <a:off x="457200" y="1234440"/>
            <a:ext cx="8229600" cy="1143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457200" y="1234440"/>
            <a:ext cx="64008" cy="1143000"/>
          </a:xfrm>
          <a:prstGeom prst="rect">
            <a:avLst/>
          </a:prstGeom>
          <a:solidFill>
            <a:srgbClr val="0D9488"/>
          </a:solidFill>
          <a:ln/>
        </p:spPr>
        <p:txBody>
          <a:bodyPr/>
          <a:lstStyle/>
          <a:p>
            <a:endParaRPr lang="en-US"/>
          </a:p>
        </p:txBody>
      </p:sp>
      <p:sp>
        <p:nvSpPr>
          <p:cNvPr id="6" name="Text 4"/>
          <p:cNvSpPr/>
          <p:nvPr/>
        </p:nvSpPr>
        <p:spPr>
          <a:xfrm>
            <a:off x="731520" y="1280160"/>
            <a:ext cx="7772400" cy="274320"/>
          </a:xfrm>
          <a:prstGeom prst="rect">
            <a:avLst/>
          </a:prstGeom>
          <a:noFill/>
          <a:ln/>
        </p:spPr>
        <p:txBody>
          <a:bodyPr wrap="square" lIns="0" tIns="0" rIns="0" bIns="0" rtlCol="0" anchor="ctr"/>
          <a:lstStyle/>
          <a:p>
            <a:pPr marL="0" indent="0">
              <a:buNone/>
            </a:pPr>
            <a:r>
              <a:rPr lang="en-US" sz="1400" b="1" dirty="0">
                <a:solidFill>
                  <a:srgbClr val="1B2A4A"/>
                </a:solidFill>
                <a:latin typeface="Georgia" pitchFamily="34" charset="0"/>
                <a:ea typeface="Georgia" pitchFamily="34" charset="-122"/>
                <a:cs typeface="Georgia" pitchFamily="34" charset="-120"/>
              </a:rPr>
              <a:t>Πώς λειτουργεί το TF-IDF</a:t>
            </a:r>
            <a:endParaRPr lang="en-US" sz="1400" dirty="0"/>
          </a:p>
        </p:txBody>
      </p:sp>
      <p:sp>
        <p:nvSpPr>
          <p:cNvPr id="7" name="Text 5"/>
          <p:cNvSpPr/>
          <p:nvPr/>
        </p:nvSpPr>
        <p:spPr>
          <a:xfrm>
            <a:off x="731520" y="1600200"/>
            <a:ext cx="7680960" cy="7315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Κάθε tweet γίνεται ένα sparse vector, όπου κάθε διάσταση αντιστοιχεί σε ένα n-gram (λέξη ή ακολουθία χαρακτήρων). Η τιμή αντανακλά πόσο σημαντικό είναι αυτό το n-gram για το συγκεκριμένο tweet: υψηλό TF (εμφανίζεται συχνά στο tweet) × υψηλό IDF (εμφανίζεται σπάνια στο corpus) = υψηλό βάρος. Η παράμετρος sublinear_tf=True εφαρμόζει λογαριθμική κλιμάκωση (1 + log(tf)) ώστε ο ίδιος όρος πολλές φορές να μην κυριαρχεί.</a:t>
            </a:r>
            <a:endParaRPr lang="en-US" sz="1100" dirty="0"/>
          </a:p>
        </p:txBody>
      </p:sp>
      <p:sp>
        <p:nvSpPr>
          <p:cNvPr id="8" name="Shape 6"/>
          <p:cNvSpPr/>
          <p:nvPr/>
        </p:nvSpPr>
        <p:spPr>
          <a:xfrm>
            <a:off x="457200" y="2468880"/>
            <a:ext cx="3931920"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7"/>
          <p:cNvSpPr/>
          <p:nvPr/>
        </p:nvSpPr>
        <p:spPr>
          <a:xfrm>
            <a:off x="457200" y="2468880"/>
            <a:ext cx="3931920" cy="54864"/>
          </a:xfrm>
          <a:prstGeom prst="rect">
            <a:avLst/>
          </a:prstGeom>
          <a:solidFill>
            <a:srgbClr val="0D9488"/>
          </a:solidFill>
          <a:ln/>
        </p:spPr>
        <p:txBody>
          <a:bodyPr/>
          <a:lstStyle/>
          <a:p>
            <a:endParaRPr lang="en-US"/>
          </a:p>
        </p:txBody>
      </p:sp>
      <p:sp>
        <p:nvSpPr>
          <p:cNvPr id="10" name="Text 8"/>
          <p:cNvSpPr/>
          <p:nvPr/>
        </p:nvSpPr>
        <p:spPr>
          <a:xfrm>
            <a:off x="731520" y="2578608"/>
            <a:ext cx="3383280" cy="274320"/>
          </a:xfrm>
          <a:prstGeom prst="rect">
            <a:avLst/>
          </a:prstGeom>
          <a:noFill/>
          <a:ln/>
        </p:spPr>
        <p:txBody>
          <a:bodyPr wrap="square" lIns="0" tIns="0" rIns="0" bIns="0" rtlCol="0" anchor="ctr"/>
          <a:lstStyle/>
          <a:p>
            <a:pPr marL="0" indent="0">
              <a:buNone/>
            </a:pPr>
            <a:r>
              <a:rPr lang="en-US" sz="1400" b="1" dirty="0">
                <a:solidFill>
                  <a:srgbClr val="0D9488"/>
                </a:solidFill>
                <a:latin typeface="Georgia" pitchFamily="34" charset="0"/>
                <a:ea typeface="Georgia" pitchFamily="34" charset="-122"/>
                <a:cs typeface="Georgia" pitchFamily="34" charset="-120"/>
              </a:rPr>
              <a:t>Word TF-IDF</a:t>
            </a:r>
            <a:endParaRPr lang="en-US" sz="1400" dirty="0"/>
          </a:p>
        </p:txBody>
      </p:sp>
      <p:sp>
        <p:nvSpPr>
          <p:cNvPr id="11" name="Text 9"/>
          <p:cNvSpPr/>
          <p:nvPr/>
        </p:nvSpPr>
        <p:spPr>
          <a:xfrm>
            <a:off x="731520" y="2880360"/>
            <a:ext cx="3383280" cy="1691640"/>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ngram_range=(1, 2)</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Unigrams + bigrams: πιάνει μεμονωμένες λέξεις ("kill") και φράσεις δύο λέξεων ("kill you", "hate women")</a:t>
            </a:r>
            <a:endParaRPr lang="en-US" sz="1050" dirty="0"/>
          </a:p>
          <a:p>
            <a:pPr marL="0" indent="0">
              <a:buNone/>
            </a:pPr>
            <a:r>
              <a:rPr lang="en-US" sz="1050" dirty="0">
                <a:solidFill>
                  <a:srgbClr val="000000"/>
                </a:solidFill>
                <a:latin typeface="Calibri" pitchFamily="34" charset="0"/>
                <a:ea typeface="Calibri" pitchFamily="34" charset="-122"/>
                <a:cs typeface="Calibri" pitchFamily="34" charset="-120"/>
              </a:rPr>
              <a:t>
</a:t>
            </a:r>
            <a:r>
              <a:rPr lang="en-US" sz="1050" b="1" dirty="0">
                <a:solidFill>
                  <a:srgbClr val="1B2A4A"/>
                </a:solidFill>
                <a:latin typeface="Calibri" pitchFamily="34" charset="0"/>
                <a:ea typeface="Calibri" pitchFamily="34" charset="-122"/>
                <a:cs typeface="Calibri" pitchFamily="34" charset="-120"/>
              </a:rPr>
              <a:t>max_features=10.000</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Κρατάει τα 10K πιο πληροφοριακά n-grams</a:t>
            </a:r>
            <a:endParaRPr lang="en-US" sz="1050" dirty="0"/>
          </a:p>
          <a:p>
            <a:pPr marL="0" indent="0">
              <a:buNone/>
            </a:pPr>
            <a:r>
              <a:rPr lang="en-US" sz="1050" dirty="0">
                <a:solidFill>
                  <a:srgbClr val="000000"/>
                </a:solidFill>
                <a:latin typeface="Calibri" pitchFamily="34" charset="0"/>
                <a:ea typeface="Calibri" pitchFamily="34" charset="-122"/>
                <a:cs typeface="Calibri" pitchFamily="34" charset="-120"/>
              </a:rPr>
              <a:t>
</a:t>
            </a:r>
            <a:r>
              <a:rPr lang="en-US" sz="1050" b="1" dirty="0">
                <a:solidFill>
                  <a:srgbClr val="1B2A4A"/>
                </a:solidFill>
                <a:latin typeface="Calibri" pitchFamily="34" charset="0"/>
                <a:ea typeface="Calibri" pitchFamily="34" charset="-122"/>
                <a:cs typeface="Calibri" pitchFamily="34" charset="-120"/>
              </a:rPr>
              <a:t>min_df=2, max_df=0.95</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Αγνοεί πολύ σπάνιους (&lt;2 tweets) και πολύ κοινούς (&gt;95%) όρους</a:t>
            </a:r>
            <a:endParaRPr lang="en-US" sz="1050" dirty="0"/>
          </a:p>
        </p:txBody>
      </p:sp>
      <p:sp>
        <p:nvSpPr>
          <p:cNvPr id="12" name="Shape 10"/>
          <p:cNvSpPr/>
          <p:nvPr/>
        </p:nvSpPr>
        <p:spPr>
          <a:xfrm>
            <a:off x="4754880" y="2468880"/>
            <a:ext cx="3931920"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3" name="Shape 11"/>
          <p:cNvSpPr/>
          <p:nvPr/>
        </p:nvSpPr>
        <p:spPr>
          <a:xfrm>
            <a:off x="4754880" y="2468880"/>
            <a:ext cx="3931920" cy="54864"/>
          </a:xfrm>
          <a:prstGeom prst="rect">
            <a:avLst/>
          </a:prstGeom>
          <a:solidFill>
            <a:srgbClr val="2C6E91"/>
          </a:solidFill>
          <a:ln/>
        </p:spPr>
        <p:txBody>
          <a:bodyPr/>
          <a:lstStyle/>
          <a:p>
            <a:endParaRPr lang="en-US"/>
          </a:p>
        </p:txBody>
      </p:sp>
      <p:sp>
        <p:nvSpPr>
          <p:cNvPr id="14" name="Text 12"/>
          <p:cNvSpPr/>
          <p:nvPr/>
        </p:nvSpPr>
        <p:spPr>
          <a:xfrm>
            <a:off x="5029200" y="2578608"/>
            <a:ext cx="3383280" cy="274320"/>
          </a:xfrm>
          <a:prstGeom prst="rect">
            <a:avLst/>
          </a:prstGeom>
          <a:noFill/>
          <a:ln/>
        </p:spPr>
        <p:txBody>
          <a:bodyPr wrap="square" lIns="0" tIns="0" rIns="0" bIns="0" rtlCol="0" anchor="ctr"/>
          <a:lstStyle/>
          <a:p>
            <a:pPr marL="0" indent="0">
              <a:buNone/>
            </a:pPr>
            <a:r>
              <a:rPr lang="en-US" sz="1400" b="1" dirty="0">
                <a:solidFill>
                  <a:srgbClr val="2C6E91"/>
                </a:solidFill>
                <a:latin typeface="Georgia" pitchFamily="34" charset="0"/>
                <a:ea typeface="Georgia" pitchFamily="34" charset="-122"/>
                <a:cs typeface="Georgia" pitchFamily="34" charset="-120"/>
              </a:rPr>
              <a:t>Character TF-IDF (char_wb)</a:t>
            </a:r>
            <a:endParaRPr lang="en-US" sz="1400" dirty="0"/>
          </a:p>
        </p:txBody>
      </p:sp>
      <p:sp>
        <p:nvSpPr>
          <p:cNvPr id="15" name="Text 13"/>
          <p:cNvSpPr/>
          <p:nvPr/>
        </p:nvSpPr>
        <p:spPr>
          <a:xfrm>
            <a:off x="5029200" y="2880360"/>
            <a:ext cx="3383280" cy="1691640"/>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analyzer='char_wb', ngram_range=(3, 5)</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N-grams χαρακτήρων μήκους 3–5 εντός ορίων λέξεων. Πιάνει μορφολογικά patterns ανεξάρτητα ορθογραφίας.</a:t>
            </a:r>
            <a:endParaRPr lang="en-US" sz="1050" dirty="0"/>
          </a:p>
          <a:p>
            <a:pPr marL="0" indent="0">
              <a:buNone/>
            </a:pPr>
            <a:r>
              <a:rPr lang="en-US" sz="1050" dirty="0">
                <a:solidFill>
                  <a:srgbClr val="000000"/>
                </a:solidFill>
                <a:latin typeface="Calibri" pitchFamily="34" charset="0"/>
                <a:ea typeface="Calibri" pitchFamily="34" charset="-122"/>
                <a:cs typeface="Calibri" pitchFamily="34" charset="-120"/>
              </a:rPr>
              <a:t>
</a:t>
            </a:r>
            <a:r>
              <a:rPr lang="en-US" sz="1050" b="1" dirty="0">
                <a:solidFill>
                  <a:srgbClr val="1B2A4A"/>
                </a:solidFill>
                <a:latin typeface="Calibri" pitchFamily="34" charset="0"/>
                <a:ea typeface="Calibri" pitchFamily="34" charset="-122"/>
                <a:cs typeface="Calibri" pitchFamily="34" charset="-120"/>
              </a:rPr>
              <a:t>Γιατί είναι χρήσιμο:</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Αναγνωρίζει παραλλαγές: "b*tch", "biitch", "btch" μοιράζονται κοινά char n-grams που ξεφεύγουν από word-level ανάλυση</a:t>
            </a:r>
            <a:endParaRPr lang="en-US" sz="1050" dirty="0"/>
          </a:p>
          <a:p>
            <a:pPr marL="0" indent="0">
              <a:buNone/>
            </a:pPr>
            <a:r>
              <a:rPr lang="en-US" sz="1050" dirty="0">
                <a:solidFill>
                  <a:srgbClr val="000000"/>
                </a:solidFill>
                <a:latin typeface="Calibri" pitchFamily="34" charset="0"/>
                <a:ea typeface="Calibri" pitchFamily="34" charset="-122"/>
                <a:cs typeface="Calibri" pitchFamily="34" charset="-120"/>
              </a:rPr>
              <a:t>
</a:t>
            </a:r>
            <a:r>
              <a:rPr lang="en-US" sz="1050" b="1" dirty="0">
                <a:solidFill>
                  <a:srgbClr val="1B2A4A"/>
                </a:solidFill>
                <a:latin typeface="Calibri" pitchFamily="34" charset="0"/>
                <a:ea typeface="Calibri" pitchFamily="34" charset="-122"/>
                <a:cs typeface="Calibri" pitchFamily="34" charset="-120"/>
              </a:rPr>
              <a:t>max_features=10.000</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Ίδιο μέγεθος με word TF-IDF</a:t>
            </a:r>
            <a:endParaRPr lang="en-US" sz="1050" dirty="0"/>
          </a:p>
        </p:txBody>
      </p:sp>
      <p:sp>
        <p:nvSpPr>
          <p:cNvPr id="16" name="Shape 14"/>
          <p:cNvSpPr/>
          <p:nvPr/>
        </p:nvSpPr>
        <p:spPr>
          <a:xfrm>
            <a:off x="1828800" y="4754880"/>
            <a:ext cx="5486400" cy="320040"/>
          </a:xfrm>
          <a:prstGeom prst="rect">
            <a:avLst/>
          </a:prstGeom>
          <a:solidFill>
            <a:srgbClr val="1B2A4A"/>
          </a:solidFill>
          <a:ln/>
        </p:spPr>
        <p:txBody>
          <a:bodyPr/>
          <a:lstStyle/>
          <a:p>
            <a:endParaRPr lang="en-US"/>
          </a:p>
        </p:txBody>
      </p:sp>
      <p:sp>
        <p:nvSpPr>
          <p:cNvPr id="17" name="Text 15"/>
          <p:cNvSpPr/>
          <p:nvPr/>
        </p:nvSpPr>
        <p:spPr>
          <a:xfrm>
            <a:off x="1920240" y="4754880"/>
            <a:ext cx="5303520" cy="320040"/>
          </a:xfrm>
          <a:prstGeom prst="rect">
            <a:avLst/>
          </a:prstGeom>
          <a:noFill/>
          <a:ln/>
        </p:spPr>
        <p:txBody>
          <a:bodyPr wrap="square" lIns="0" tIns="0" rIns="0" bIns="0" rtlCol="0" anchor="ctr"/>
          <a:lstStyle/>
          <a:p>
            <a:pPr marL="0" indent="0" algn="ctr">
              <a:buNone/>
            </a:pPr>
            <a:r>
              <a:rPr lang="en-US" sz="1100" b="1" dirty="0">
                <a:solidFill>
                  <a:srgbClr val="5EEAD4"/>
                </a:solidFill>
                <a:latin typeface="Calibri" pitchFamily="34" charset="0"/>
                <a:ea typeface="Calibri" pitchFamily="34" charset="-122"/>
                <a:cs typeface="Calibri" pitchFamily="34" charset="-120"/>
              </a:rPr>
              <a:t>FeatureUnion: </a:t>
            </a:r>
            <a:r>
              <a:rPr lang="en-US" sz="1100" dirty="0">
                <a:solidFill>
                  <a:srgbClr val="FFFFFF"/>
                </a:solidFill>
                <a:latin typeface="Calibri" pitchFamily="34" charset="0"/>
                <a:ea typeface="Calibri" pitchFamily="34" charset="-122"/>
                <a:cs typeface="Calibri" pitchFamily="34" charset="-120"/>
              </a:rPr>
              <a:t>Word (10K) + Char (10K) = ~20K features / tweet  |  </a:t>
            </a:r>
            <a:r>
              <a:rPr lang="en-US" sz="1100" b="1" dirty="0">
                <a:solidFill>
                  <a:srgbClr val="F59E0B"/>
                </a:solidFill>
                <a:latin typeface="Calibri" pitchFamily="34" charset="0"/>
                <a:ea typeface="Calibri" pitchFamily="34" charset="-122"/>
                <a:cs typeface="Calibri" pitchFamily="34" charset="-120"/>
              </a:rPr>
              <a:t>Fit μόνο στο train set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Traditional ML — Imbalance &amp; Tuning</a:t>
            </a:r>
            <a:endParaRPr lang="en-US" sz="2800" dirty="0"/>
          </a:p>
        </p:txBody>
      </p:sp>
      <p:sp>
        <p:nvSpPr>
          <p:cNvPr id="3" name="Shape 1"/>
          <p:cNvSpPr/>
          <p:nvPr/>
        </p:nvSpPr>
        <p:spPr>
          <a:xfrm>
            <a:off x="457200" y="1097280"/>
            <a:ext cx="3931920" cy="3657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457200" y="1097280"/>
            <a:ext cx="3931920" cy="54864"/>
          </a:xfrm>
          <a:prstGeom prst="rect">
            <a:avLst/>
          </a:prstGeom>
          <a:solidFill>
            <a:srgbClr val="F59E0B"/>
          </a:solidFill>
          <a:ln/>
        </p:spPr>
        <p:txBody>
          <a:bodyPr/>
          <a:lstStyle/>
          <a:p>
            <a:endParaRPr lang="en-US"/>
          </a:p>
        </p:txBody>
      </p:sp>
      <p:sp>
        <p:nvSpPr>
          <p:cNvPr id="5" name="Shape 3"/>
          <p:cNvSpPr/>
          <p:nvPr/>
        </p:nvSpPr>
        <p:spPr>
          <a:xfrm>
            <a:off x="685800" y="1325880"/>
            <a:ext cx="438912" cy="438912"/>
          </a:xfrm>
          <a:prstGeom prst="ellipse">
            <a:avLst/>
          </a:prstGeom>
          <a:solidFill>
            <a:srgbClr val="F59E0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49808" y="1389888"/>
            <a:ext cx="310896" cy="310896"/>
          </a:xfrm>
          <a:prstGeom prst="rect">
            <a:avLst/>
          </a:prstGeom>
        </p:spPr>
      </p:pic>
      <p:sp>
        <p:nvSpPr>
          <p:cNvPr id="7" name="Text 4"/>
          <p:cNvSpPr/>
          <p:nvPr/>
        </p:nvSpPr>
        <p:spPr>
          <a:xfrm>
            <a:off x="1280160" y="1371600"/>
            <a:ext cx="2743200" cy="365760"/>
          </a:xfrm>
          <a:prstGeom prst="rect">
            <a:avLst/>
          </a:prstGeom>
          <a:noFill/>
          <a:ln/>
        </p:spPr>
        <p:txBody>
          <a:bodyPr wrap="square" lIns="0" tIns="0" rIns="0" bIns="0" rtlCol="0" anchor="ctr"/>
          <a:lstStyle/>
          <a:p>
            <a:pPr marL="0" indent="0">
              <a:buNone/>
            </a:pPr>
            <a:r>
              <a:rPr lang="en-US" sz="1500" b="1" dirty="0">
                <a:solidFill>
                  <a:srgbClr val="1B2A4A"/>
                </a:solidFill>
                <a:latin typeface="Georgia" pitchFamily="34" charset="0"/>
                <a:ea typeface="Georgia" pitchFamily="34" charset="-122"/>
                <a:cs typeface="Georgia" pitchFamily="34" charset="-120"/>
              </a:rPr>
              <a:t>SMOTE Oversampling</a:t>
            </a:r>
            <a:endParaRPr lang="en-US" sz="1500" dirty="0"/>
          </a:p>
        </p:txBody>
      </p:sp>
      <p:sp>
        <p:nvSpPr>
          <p:cNvPr id="8" name="Text 5"/>
          <p:cNvSpPr/>
          <p:nvPr/>
        </p:nvSpPr>
        <p:spPr>
          <a:xfrm>
            <a:off x="731520" y="1920240"/>
            <a:ext cx="3383280" cy="914400"/>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Synthetic Minority Over-sampling Technique: δημιουργεί συνθετικά δείγματα της μειονοτικής κλάσης παρεμβάλλοντας μεταξύ υπαρχόντων γειτονικών σημείων στον feature space.</a:t>
            </a:r>
            <a:endParaRPr lang="en-US" sz="1150" dirty="0"/>
          </a:p>
        </p:txBody>
      </p:sp>
      <p:sp>
        <p:nvSpPr>
          <p:cNvPr id="9" name="Text 6"/>
          <p:cNvSpPr/>
          <p:nvPr/>
        </p:nvSpPr>
        <p:spPr>
          <a:xfrm>
            <a:off x="822960" y="2926080"/>
            <a:ext cx="3200400" cy="164592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334155"/>
                </a:solidFill>
                <a:latin typeface="Calibri" pitchFamily="34" charset="0"/>
                <a:ea typeface="Calibri" pitchFamily="34" charset="-122"/>
                <a:cs typeface="Calibri" pitchFamily="34" charset="-120"/>
              </a:rPr>
              <a:t>Εφαρμόζεται μόνο στο training set</a:t>
            </a:r>
            <a:endParaRPr lang="en-US" sz="1150" dirty="0"/>
          </a:p>
          <a:p>
            <a:pPr marL="342900" indent="-342900">
              <a:spcAft>
                <a:spcPts val="400"/>
              </a:spcAft>
              <a:buSzPct val="100000"/>
              <a:buChar char="•"/>
            </a:pPr>
            <a:r>
              <a:rPr lang="en-US" sz="1150" dirty="0">
                <a:solidFill>
                  <a:srgbClr val="334155"/>
                </a:solidFill>
                <a:latin typeface="Calibri" pitchFamily="34" charset="0"/>
                <a:ea typeface="Calibri" pitchFamily="34" charset="-122"/>
                <a:cs typeface="Calibri" pitchFamily="34" charset="-120"/>
              </a:rPr>
              <a:t>Ξεχωριστά ανά target (binary task)</a:t>
            </a:r>
            <a:endParaRPr lang="en-US" sz="1150" dirty="0"/>
          </a:p>
          <a:p>
            <a:pPr marL="342900" indent="-342900">
              <a:spcAft>
                <a:spcPts val="400"/>
              </a:spcAft>
              <a:buSzPct val="100000"/>
              <a:buChar char="•"/>
            </a:pPr>
            <a:r>
              <a:rPr lang="en-US" sz="1150" dirty="0">
                <a:solidFill>
                  <a:srgbClr val="334155"/>
                </a:solidFill>
                <a:latin typeface="Calibri" pitchFamily="34" charset="0"/>
                <a:ea typeface="Calibri" pitchFamily="34" charset="-122"/>
                <a:cs typeface="Calibri" pitchFamily="34" charset="-120"/>
              </a:rPr>
              <a:t>Ισορροπεί minority/majority κλάσεις</a:t>
            </a:r>
            <a:endParaRPr lang="en-US" sz="1150" dirty="0"/>
          </a:p>
          <a:p>
            <a:pPr marL="342900" indent="-342900">
              <a:spcAft>
                <a:spcPts val="400"/>
              </a:spcAft>
              <a:buSzPct val="100000"/>
              <a:buChar char="•"/>
            </a:pPr>
            <a:r>
              <a:rPr lang="en-US" sz="1150" dirty="0">
                <a:solidFill>
                  <a:srgbClr val="334155"/>
                </a:solidFill>
                <a:latin typeface="Calibri" pitchFamily="34" charset="0"/>
                <a:ea typeface="Calibri" pitchFamily="34" charset="-122"/>
                <a:cs typeface="Calibri" pitchFamily="34" charset="-120"/>
              </a:rPr>
              <a:t>Εφαρμογή σε FeatureUnion &amp; NB matrices</a:t>
            </a:r>
            <a:endParaRPr lang="en-US" sz="1150" dirty="0"/>
          </a:p>
        </p:txBody>
      </p:sp>
      <p:sp>
        <p:nvSpPr>
          <p:cNvPr id="10" name="Shape 7"/>
          <p:cNvSpPr/>
          <p:nvPr/>
        </p:nvSpPr>
        <p:spPr>
          <a:xfrm>
            <a:off x="4754880" y="1097280"/>
            <a:ext cx="3931920" cy="3657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8"/>
          <p:cNvSpPr/>
          <p:nvPr/>
        </p:nvSpPr>
        <p:spPr>
          <a:xfrm>
            <a:off x="4754880" y="1097280"/>
            <a:ext cx="3931920" cy="54864"/>
          </a:xfrm>
          <a:prstGeom prst="rect">
            <a:avLst/>
          </a:prstGeom>
          <a:solidFill>
            <a:srgbClr val="7C3AED"/>
          </a:solidFill>
          <a:ln/>
        </p:spPr>
        <p:txBody>
          <a:bodyPr/>
          <a:lstStyle/>
          <a:p>
            <a:endParaRPr lang="en-US"/>
          </a:p>
        </p:txBody>
      </p:sp>
      <p:sp>
        <p:nvSpPr>
          <p:cNvPr id="12" name="Shape 9"/>
          <p:cNvSpPr/>
          <p:nvPr/>
        </p:nvSpPr>
        <p:spPr>
          <a:xfrm>
            <a:off x="4983480" y="1325880"/>
            <a:ext cx="438912" cy="438912"/>
          </a:xfrm>
          <a:prstGeom prst="ellipse">
            <a:avLst/>
          </a:prstGeom>
          <a:solidFill>
            <a:srgbClr val="7C3AED"/>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5047488" y="1389888"/>
            <a:ext cx="310896" cy="310896"/>
          </a:xfrm>
          <a:prstGeom prst="rect">
            <a:avLst/>
          </a:prstGeom>
        </p:spPr>
      </p:pic>
      <p:sp>
        <p:nvSpPr>
          <p:cNvPr id="14" name="Text 10"/>
          <p:cNvSpPr/>
          <p:nvPr/>
        </p:nvSpPr>
        <p:spPr>
          <a:xfrm>
            <a:off x="5577840" y="1371600"/>
            <a:ext cx="2926080" cy="365760"/>
          </a:xfrm>
          <a:prstGeom prst="rect">
            <a:avLst/>
          </a:prstGeom>
          <a:noFill/>
          <a:ln/>
        </p:spPr>
        <p:txBody>
          <a:bodyPr wrap="square" lIns="0" tIns="0" rIns="0" bIns="0" rtlCol="0" anchor="ctr"/>
          <a:lstStyle/>
          <a:p>
            <a:pPr marL="0" indent="0">
              <a:buNone/>
            </a:pPr>
            <a:r>
              <a:rPr lang="en-US" sz="1500" b="1" dirty="0">
                <a:solidFill>
                  <a:srgbClr val="1B2A4A"/>
                </a:solidFill>
                <a:latin typeface="Georgia" pitchFamily="34" charset="0"/>
                <a:ea typeface="Georgia" pitchFamily="34" charset="-122"/>
                <a:cs typeface="Georgia" pitchFamily="34" charset="-120"/>
              </a:rPr>
              <a:t>GridSearchCV</a:t>
            </a:r>
            <a:endParaRPr lang="en-US" sz="1500" dirty="0"/>
          </a:p>
        </p:txBody>
      </p:sp>
      <p:sp>
        <p:nvSpPr>
          <p:cNvPr id="15" name="Text 11"/>
          <p:cNvSpPr/>
          <p:nvPr/>
        </p:nvSpPr>
        <p:spPr>
          <a:xfrm>
            <a:off x="5029200" y="1874520"/>
            <a:ext cx="347472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5-fold CV με macro F1 scoring</a:t>
            </a:r>
            <a:endParaRPr lang="en-US" sz="1200" dirty="0"/>
          </a:p>
        </p:txBody>
      </p:sp>
      <p:sp>
        <p:nvSpPr>
          <p:cNvPr id="16" name="Shape 12"/>
          <p:cNvSpPr/>
          <p:nvPr/>
        </p:nvSpPr>
        <p:spPr>
          <a:xfrm>
            <a:off x="5029200" y="2286000"/>
            <a:ext cx="3474720" cy="411480"/>
          </a:xfrm>
          <a:prstGeom prst="rect">
            <a:avLst/>
          </a:prstGeom>
          <a:solidFill>
            <a:srgbClr val="EDF2F7"/>
          </a:solidFill>
          <a:ln/>
        </p:spPr>
        <p:txBody>
          <a:bodyPr/>
          <a:lstStyle/>
          <a:p>
            <a:endParaRPr lang="en-US"/>
          </a:p>
        </p:txBody>
      </p:sp>
      <p:sp>
        <p:nvSpPr>
          <p:cNvPr id="17" name="Text 13"/>
          <p:cNvSpPr/>
          <p:nvPr/>
        </p:nvSpPr>
        <p:spPr>
          <a:xfrm>
            <a:off x="5120640" y="2313432"/>
            <a:ext cx="137160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NaiveBayes</a:t>
            </a:r>
            <a:endParaRPr lang="en-US" sz="1100" dirty="0"/>
          </a:p>
        </p:txBody>
      </p:sp>
      <p:sp>
        <p:nvSpPr>
          <p:cNvPr id="18" name="Text 14"/>
          <p:cNvSpPr/>
          <p:nvPr/>
        </p:nvSpPr>
        <p:spPr>
          <a:xfrm>
            <a:off x="6492240" y="2313432"/>
            <a:ext cx="192024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α: 20 values [0.001–2.0]</a:t>
            </a:r>
            <a:endParaRPr lang="en-US" sz="1000" dirty="0"/>
          </a:p>
        </p:txBody>
      </p:sp>
      <p:sp>
        <p:nvSpPr>
          <p:cNvPr id="19" name="Shape 15"/>
          <p:cNvSpPr/>
          <p:nvPr/>
        </p:nvSpPr>
        <p:spPr>
          <a:xfrm>
            <a:off x="5029200" y="2788920"/>
            <a:ext cx="3474720" cy="411480"/>
          </a:xfrm>
          <a:prstGeom prst="rect">
            <a:avLst/>
          </a:prstGeom>
          <a:solidFill>
            <a:srgbClr val="FFFFFF"/>
          </a:solidFill>
          <a:ln/>
        </p:spPr>
        <p:txBody>
          <a:bodyPr/>
          <a:lstStyle/>
          <a:p>
            <a:endParaRPr lang="en-US"/>
          </a:p>
        </p:txBody>
      </p:sp>
      <p:sp>
        <p:nvSpPr>
          <p:cNvPr id="20" name="Text 16"/>
          <p:cNvSpPr/>
          <p:nvPr/>
        </p:nvSpPr>
        <p:spPr>
          <a:xfrm>
            <a:off x="5120640" y="2816352"/>
            <a:ext cx="137160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SVM Linear</a:t>
            </a:r>
            <a:endParaRPr lang="en-US" sz="1100" dirty="0"/>
          </a:p>
        </p:txBody>
      </p:sp>
      <p:sp>
        <p:nvSpPr>
          <p:cNvPr id="21" name="Text 17"/>
          <p:cNvSpPr/>
          <p:nvPr/>
        </p:nvSpPr>
        <p:spPr>
          <a:xfrm>
            <a:off x="6492240" y="2816352"/>
            <a:ext cx="192024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 6 values [0.01–10]</a:t>
            </a:r>
            <a:endParaRPr lang="en-US" sz="1000" dirty="0"/>
          </a:p>
        </p:txBody>
      </p:sp>
      <p:sp>
        <p:nvSpPr>
          <p:cNvPr id="22" name="Shape 18"/>
          <p:cNvSpPr/>
          <p:nvPr/>
        </p:nvSpPr>
        <p:spPr>
          <a:xfrm>
            <a:off x="5029200" y="3291840"/>
            <a:ext cx="3474720" cy="411480"/>
          </a:xfrm>
          <a:prstGeom prst="rect">
            <a:avLst/>
          </a:prstGeom>
          <a:solidFill>
            <a:srgbClr val="EDF2F7"/>
          </a:solidFill>
          <a:ln/>
        </p:spPr>
        <p:txBody>
          <a:bodyPr/>
          <a:lstStyle/>
          <a:p>
            <a:endParaRPr lang="en-US"/>
          </a:p>
        </p:txBody>
      </p:sp>
      <p:sp>
        <p:nvSpPr>
          <p:cNvPr id="23" name="Text 19"/>
          <p:cNvSpPr/>
          <p:nvPr/>
        </p:nvSpPr>
        <p:spPr>
          <a:xfrm>
            <a:off x="5120640" y="3319272"/>
            <a:ext cx="137160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SVM RBF</a:t>
            </a:r>
            <a:endParaRPr lang="en-US" sz="1100" dirty="0"/>
          </a:p>
        </p:txBody>
      </p:sp>
      <p:sp>
        <p:nvSpPr>
          <p:cNvPr id="24" name="Text 20"/>
          <p:cNvSpPr/>
          <p:nvPr/>
        </p:nvSpPr>
        <p:spPr>
          <a:xfrm>
            <a:off x="6492240" y="3319272"/>
            <a:ext cx="192024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 × γ: 4×4 = 16 combos</a:t>
            </a:r>
            <a:endParaRPr lang="en-US" sz="1000" dirty="0"/>
          </a:p>
        </p:txBody>
      </p:sp>
      <p:sp>
        <p:nvSpPr>
          <p:cNvPr id="25" name="Shape 21"/>
          <p:cNvSpPr/>
          <p:nvPr/>
        </p:nvSpPr>
        <p:spPr>
          <a:xfrm>
            <a:off x="5029200" y="3794760"/>
            <a:ext cx="3474720" cy="411480"/>
          </a:xfrm>
          <a:prstGeom prst="rect">
            <a:avLst/>
          </a:prstGeom>
          <a:solidFill>
            <a:srgbClr val="FFFFFF"/>
          </a:solidFill>
          <a:ln/>
        </p:spPr>
        <p:txBody>
          <a:bodyPr/>
          <a:lstStyle/>
          <a:p>
            <a:endParaRPr lang="en-US"/>
          </a:p>
        </p:txBody>
      </p:sp>
      <p:sp>
        <p:nvSpPr>
          <p:cNvPr id="26" name="Text 22"/>
          <p:cNvSpPr/>
          <p:nvPr/>
        </p:nvSpPr>
        <p:spPr>
          <a:xfrm>
            <a:off x="5120640" y="3822192"/>
            <a:ext cx="137160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LogReg</a:t>
            </a:r>
            <a:endParaRPr lang="en-US" sz="1100" dirty="0"/>
          </a:p>
        </p:txBody>
      </p:sp>
      <p:sp>
        <p:nvSpPr>
          <p:cNvPr id="27" name="Text 23"/>
          <p:cNvSpPr/>
          <p:nvPr/>
        </p:nvSpPr>
        <p:spPr>
          <a:xfrm>
            <a:off x="6492240" y="3822192"/>
            <a:ext cx="192024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 × penalty: 6×2 = 12 combos</a:t>
            </a:r>
            <a:endParaRPr lang="en-US" sz="1000" dirty="0"/>
          </a:p>
        </p:txBody>
      </p:sp>
      <p:sp>
        <p:nvSpPr>
          <p:cNvPr id="28" name="Shape 24"/>
          <p:cNvSpPr/>
          <p:nvPr/>
        </p:nvSpPr>
        <p:spPr>
          <a:xfrm>
            <a:off x="5029200" y="4297680"/>
            <a:ext cx="3474720" cy="411480"/>
          </a:xfrm>
          <a:prstGeom prst="rect">
            <a:avLst/>
          </a:prstGeom>
          <a:solidFill>
            <a:srgbClr val="EDF2F7"/>
          </a:solidFill>
          <a:ln/>
        </p:spPr>
        <p:txBody>
          <a:bodyPr/>
          <a:lstStyle/>
          <a:p>
            <a:endParaRPr lang="en-US"/>
          </a:p>
        </p:txBody>
      </p:sp>
      <p:sp>
        <p:nvSpPr>
          <p:cNvPr id="29" name="Text 25"/>
          <p:cNvSpPr/>
          <p:nvPr/>
        </p:nvSpPr>
        <p:spPr>
          <a:xfrm>
            <a:off x="5120640" y="4325112"/>
            <a:ext cx="1371600" cy="36576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Random Forest</a:t>
            </a:r>
            <a:endParaRPr lang="en-US" sz="1100" dirty="0"/>
          </a:p>
        </p:txBody>
      </p:sp>
      <p:sp>
        <p:nvSpPr>
          <p:cNvPr id="30" name="Text 26"/>
          <p:cNvSpPr/>
          <p:nvPr/>
        </p:nvSpPr>
        <p:spPr>
          <a:xfrm>
            <a:off x="6492240" y="4325112"/>
            <a:ext cx="192024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trees × depth × split: 18 combos</a:t>
            </a:r>
            <a:endParaRPr lang="en-US" sz="1000" dirty="0"/>
          </a:p>
        </p:txBody>
      </p:sp>
      <p:sp>
        <p:nvSpPr>
          <p:cNvPr id="31" name="Text 27"/>
          <p:cNvSpPr/>
          <p:nvPr/>
        </p:nvSpPr>
        <p:spPr>
          <a:xfrm>
            <a:off x="5029200" y="4846320"/>
            <a:ext cx="34747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 Voting Ensemble (soft voting: LR + SVM + RF)</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Traditional ML — Αποτελέσματα</a:t>
            </a:r>
            <a:endParaRPr lang="en-US" sz="2800" dirty="0"/>
          </a:p>
        </p:txBody>
      </p:sp>
      <p:sp>
        <p:nvSpPr>
          <p:cNvPr id="3" name="Text 1"/>
          <p:cNvSpPr/>
          <p:nvPr/>
        </p:nvSpPr>
        <p:spPr>
          <a:xfrm>
            <a:off x="457200" y="868680"/>
            <a:ext cx="8229600" cy="320040"/>
          </a:xfrm>
          <a:prstGeom prst="rect">
            <a:avLst/>
          </a:prstGeom>
          <a:noFill/>
          <a:ln/>
        </p:spPr>
        <p:txBody>
          <a:bodyPr wrap="square" lIns="0" tIns="0" rIns="0" bIns="0" rtlCol="0" anchor="ctr"/>
          <a:lstStyle/>
          <a:p>
            <a:pPr marL="0" indent="0">
              <a:buNone/>
            </a:pPr>
            <a:r>
              <a:rPr lang="en-US" sz="1300" b="1" dirty="0">
                <a:solidFill>
                  <a:srgbClr val="2C6E91"/>
                </a:solidFill>
                <a:latin typeface="Calibri" pitchFamily="34" charset="0"/>
                <a:ea typeface="Calibri" pitchFamily="34" charset="-122"/>
                <a:cs typeface="Calibri" pitchFamily="34" charset="-120"/>
              </a:rPr>
              <a:t>Binary Classification — Best F1 ανά target (Test set)</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2004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Best Model</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Val F1</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Test F1</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0040">
                <a:tc>
                  <a:txBody>
                    <a:bodyPr/>
                    <a:lstStyle/>
                    <a:p>
                      <a:pPr marL="0" indent="0" algn="l">
                        <a:buNone/>
                      </a:pPr>
                      <a:r>
                        <a:rPr lang="en-US" sz="1100" b="1" dirty="0">
                          <a:solidFill>
                            <a:srgbClr val="1A202C"/>
                          </a:solidFill>
                          <a:latin typeface="Calibri" pitchFamily="34" charset="0"/>
                          <a:ea typeface="Calibri" pitchFamily="34" charset="-122"/>
                          <a:cs typeface="Calibri" pitchFamily="34" charset="-120"/>
                        </a:rPr>
                        <a:t>harassment</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4155"/>
                          </a:solidFill>
                          <a:latin typeface="Calibri" pitchFamily="34" charset="0"/>
                          <a:ea typeface="Calibri" pitchFamily="34" charset="-122"/>
                          <a:cs typeface="Calibri" pitchFamily="34" charset="-120"/>
                        </a:rPr>
                        <a:t>SVM-Linear (C=0.5)</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0.8619</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0.7344</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100" b="1" dirty="0">
                          <a:solidFill>
                            <a:srgbClr val="1A202C"/>
                          </a:solidFill>
                          <a:latin typeface="Calibri" pitchFamily="34" charset="0"/>
                          <a:ea typeface="Calibri" pitchFamily="34" charset="-122"/>
                          <a:cs typeface="Calibri" pitchFamily="34" charset="-120"/>
                        </a:rPr>
                        <a:t>SexualH</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l">
                        <a:buNone/>
                      </a:pPr>
                      <a:r>
                        <a:rPr lang="en-US" sz="1000" dirty="0">
                          <a:solidFill>
                            <a:srgbClr val="334155"/>
                          </a:solidFill>
                          <a:latin typeface="Calibri" pitchFamily="34" charset="0"/>
                          <a:ea typeface="Calibri" pitchFamily="34" charset="-122"/>
                          <a:cs typeface="Calibri" pitchFamily="34" charset="-120"/>
                        </a:rPr>
                        <a:t>RandomForest (n=200)</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0.9168</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0.8202</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20040">
                <a:tc>
                  <a:txBody>
                    <a:bodyPr/>
                    <a:lstStyle/>
                    <a:p>
                      <a:pPr marL="0" indent="0" algn="l">
                        <a:buNone/>
                      </a:pPr>
                      <a:r>
                        <a:rPr lang="en-US" sz="1100" b="1" dirty="0">
                          <a:solidFill>
                            <a:srgbClr val="1A202C"/>
                          </a:solidFill>
                          <a:latin typeface="Calibri" pitchFamily="34" charset="0"/>
                          <a:ea typeface="Calibri" pitchFamily="34" charset="-122"/>
                          <a:cs typeface="Calibri" pitchFamily="34" charset="-120"/>
                        </a:rPr>
                        <a:t>IndirectH</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4155"/>
                          </a:solidFill>
                          <a:latin typeface="Calibri" pitchFamily="34" charset="0"/>
                          <a:ea typeface="Calibri" pitchFamily="34" charset="-122"/>
                          <a:cs typeface="Calibri" pitchFamily="34" charset="-120"/>
                        </a:rPr>
                        <a:t>LogReg (C=10.0, L2)</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0.5146</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0.5272</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100" b="1" dirty="0">
                          <a:solidFill>
                            <a:srgbClr val="1A202C"/>
                          </a:solidFill>
                          <a:latin typeface="Calibri" pitchFamily="34" charset="0"/>
                          <a:ea typeface="Calibri" pitchFamily="34" charset="-122"/>
                          <a:cs typeface="Calibri" pitchFamily="34" charset="-120"/>
                        </a:rPr>
                        <a:t>PhysicalH</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l">
                        <a:buNone/>
                      </a:pPr>
                      <a:r>
                        <a:rPr lang="en-US" sz="1000" dirty="0">
                          <a:solidFill>
                            <a:srgbClr val="334155"/>
                          </a:solidFill>
                          <a:latin typeface="Calibri" pitchFamily="34" charset="0"/>
                          <a:ea typeface="Calibri" pitchFamily="34" charset="-122"/>
                          <a:cs typeface="Calibri" pitchFamily="34" charset="-120"/>
                        </a:rPr>
                        <a:t>MultinomialNB (α=0.001)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0.5324</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0.5243</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2880360"/>
            <a:ext cx="8229600" cy="274320"/>
          </a:xfrm>
          <a:prstGeom prst="rect">
            <a:avLst/>
          </a:prstGeom>
          <a:noFill/>
          <a:ln/>
        </p:spPr>
        <p:txBody>
          <a:bodyPr wrap="square" lIns="0" tIns="0" rIns="0" bIns="0" rtlCol="0" anchor="ctr"/>
          <a:lstStyle/>
          <a:p>
            <a:pPr marL="0" indent="0">
              <a:buNone/>
            </a:pPr>
            <a:r>
              <a:rPr lang="en-US" sz="1300" b="1" dirty="0">
                <a:solidFill>
                  <a:srgbClr val="2C6E91"/>
                </a:solidFill>
                <a:latin typeface="Calibri" pitchFamily="34" charset="0"/>
                <a:ea typeface="Calibri" pitchFamily="34" charset="-122"/>
                <a:cs typeface="Calibri" pitchFamily="34" charset="-120"/>
              </a:rPr>
              <a:t>Multi-class Classification — 4 κλάσεις (Test set)</a:t>
            </a:r>
            <a:endParaRPr lang="en-US" sz="13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1371600" y="3200400"/>
          <a:ext cx="6400800" cy="914400"/>
        </p:xfrm>
        <a:graphic>
          <a:graphicData uri="http://schemas.openxmlformats.org/drawingml/2006/table">
            <a:tbl>
              <a:tblPr/>
              <a:tblGrid>
                <a:gridCol w="34747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56032">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Val F1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Test F1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56032">
                <a:tc>
                  <a:txBody>
                    <a:bodyPr/>
                    <a:lstStyle/>
                    <a:p>
                      <a:pPr marL="0" indent="0" algn="l">
                        <a:buNone/>
                      </a:pPr>
                      <a:r>
                        <a:rPr lang="en-US" sz="1050" b="1" dirty="0">
                          <a:solidFill>
                            <a:srgbClr val="0D9488"/>
                          </a:solidFill>
                          <a:latin typeface="Calibri" pitchFamily="34" charset="0"/>
                          <a:ea typeface="Calibri" pitchFamily="34" charset="-122"/>
                          <a:cs typeface="Calibri" pitchFamily="34" charset="-120"/>
                        </a:rPr>
                        <a:t>★ LogReg-Multinomial (C=5.0)</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0.4643</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0.4218</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050" dirty="0">
                          <a:solidFill>
                            <a:srgbClr val="334155"/>
                          </a:solidFill>
                          <a:latin typeface="Calibri" pitchFamily="34" charset="0"/>
                          <a:ea typeface="Calibri" pitchFamily="34" charset="-122"/>
                          <a:cs typeface="Calibri" pitchFamily="34" charset="-120"/>
                        </a:rPr>
                        <a:t>SVM-Linear (C=1.0)</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0.4468</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0.4126</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256032">
                <a:tc>
                  <a:txBody>
                    <a:bodyPr/>
                    <a:lstStyle/>
                    <a:p>
                      <a:pPr marL="0" indent="0" algn="l">
                        <a:buNone/>
                      </a:pPr>
                      <a:r>
                        <a:rPr lang="en-US" sz="1050" dirty="0">
                          <a:solidFill>
                            <a:srgbClr val="334155"/>
                          </a:solidFill>
                          <a:latin typeface="Calibri" pitchFamily="34" charset="0"/>
                          <a:ea typeface="Calibri" pitchFamily="34" charset="-122"/>
                          <a:cs typeface="Calibri" pitchFamily="34" charset="-120"/>
                        </a:rPr>
                        <a:t>SVM-RBF (C=50.0, γ=0.01)</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0.4600</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0.4027</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050" dirty="0">
                          <a:solidFill>
                            <a:srgbClr val="334155"/>
                          </a:solidFill>
                          <a:latin typeface="Calibri" pitchFamily="34" charset="0"/>
                          <a:ea typeface="Calibri" pitchFamily="34" charset="-122"/>
                          <a:cs typeface="Calibri" pitchFamily="34" charset="-120"/>
                        </a:rPr>
                        <a:t>VotingEnsemble (LR+SVM+RF)</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0.4622</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0.3985</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256032">
                <a:tc>
                  <a:txBody>
                    <a:bodyPr/>
                    <a:lstStyle/>
                    <a:p>
                      <a:pPr marL="0" indent="0" algn="l">
                        <a:buNone/>
                      </a:pPr>
                      <a:r>
                        <a:rPr lang="en-US" sz="1050" dirty="0">
                          <a:solidFill>
                            <a:srgbClr val="334155"/>
                          </a:solidFill>
                          <a:latin typeface="Calibri" pitchFamily="34" charset="0"/>
                          <a:ea typeface="Calibri" pitchFamily="34" charset="-122"/>
                          <a:cs typeface="Calibri" pitchFamily="34" charset="-120"/>
                        </a:rPr>
                        <a:t>RandomForest (n=200)</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0.4659</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0.3889</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l">
                        <a:buNone/>
                      </a:pPr>
                      <a:r>
                        <a:rPr lang="en-US" sz="1050" dirty="0">
                          <a:solidFill>
                            <a:srgbClr val="334155"/>
                          </a:solidFill>
                          <a:latin typeface="Calibri" pitchFamily="34" charset="0"/>
                          <a:ea typeface="Calibri" pitchFamily="34" charset="-122"/>
                          <a:cs typeface="Calibri" pitchFamily="34" charset="-120"/>
                        </a:rPr>
                        <a:t>MultinomialNB (α=0.023)</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0.3998</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0.3597</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Deep Learning — Αρχιτεκτονική</a:t>
            </a:r>
            <a:endParaRPr lang="en-US" sz="2800" dirty="0"/>
          </a:p>
        </p:txBody>
      </p:sp>
      <p:sp>
        <p:nvSpPr>
          <p:cNvPr id="3" name="Shape 1"/>
          <p:cNvSpPr/>
          <p:nvPr/>
        </p:nvSpPr>
        <p:spPr>
          <a:xfrm>
            <a:off x="457200" y="1097280"/>
            <a:ext cx="393192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457200" y="1097280"/>
            <a:ext cx="3931920" cy="54864"/>
          </a:xfrm>
          <a:prstGeom prst="rect">
            <a:avLst/>
          </a:prstGeom>
          <a:solidFill>
            <a:srgbClr val="0D9488"/>
          </a:solidFill>
          <a:ln/>
        </p:spPr>
        <p:txBody>
          <a:bodyPr/>
          <a:lstStyle/>
          <a:p>
            <a:endParaRPr lang="en-US"/>
          </a:p>
        </p:txBody>
      </p:sp>
      <p:sp>
        <p:nvSpPr>
          <p:cNvPr id="5" name="Shape 3"/>
          <p:cNvSpPr/>
          <p:nvPr/>
        </p:nvSpPr>
        <p:spPr>
          <a:xfrm>
            <a:off x="685800" y="1325880"/>
            <a:ext cx="438912" cy="438912"/>
          </a:xfrm>
          <a:prstGeom prst="ellipse">
            <a:avLst/>
          </a:prstGeom>
          <a:solidFill>
            <a:srgbClr val="0D948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49808" y="1389888"/>
            <a:ext cx="310896" cy="310896"/>
          </a:xfrm>
          <a:prstGeom prst="rect">
            <a:avLst/>
          </a:prstGeom>
        </p:spPr>
      </p:pic>
      <p:sp>
        <p:nvSpPr>
          <p:cNvPr id="7" name="Text 4"/>
          <p:cNvSpPr/>
          <p:nvPr/>
        </p:nvSpPr>
        <p:spPr>
          <a:xfrm>
            <a:off x="1280160" y="1371600"/>
            <a:ext cx="2743200" cy="365760"/>
          </a:xfrm>
          <a:prstGeom prst="rect">
            <a:avLst/>
          </a:prstGeom>
          <a:noFill/>
          <a:ln/>
        </p:spPr>
        <p:txBody>
          <a:bodyPr wrap="square" lIns="0" tIns="0" rIns="0" bIns="0" rtlCol="0" anchor="ctr"/>
          <a:lstStyle/>
          <a:p>
            <a:pPr marL="0" indent="0">
              <a:buNone/>
            </a:pPr>
            <a:r>
              <a:rPr lang="en-US" sz="1400" b="1" dirty="0">
                <a:solidFill>
                  <a:srgbClr val="1B2A4A"/>
                </a:solidFill>
                <a:latin typeface="Georgia" pitchFamily="34" charset="0"/>
                <a:ea typeface="Georgia" pitchFamily="34" charset="-122"/>
                <a:cs typeface="Georgia" pitchFamily="34" charset="-120"/>
              </a:rPr>
              <a:t>Αναπαράσταση &amp; Preprocessing</a:t>
            </a:r>
            <a:endParaRPr lang="en-US" sz="1400" dirty="0"/>
          </a:p>
        </p:txBody>
      </p:sp>
      <p:sp>
        <p:nvSpPr>
          <p:cNvPr id="8" name="Text 5"/>
          <p:cNvSpPr/>
          <p:nvPr/>
        </p:nvSpPr>
        <p:spPr>
          <a:xfrm>
            <a:off x="731520" y="1874520"/>
            <a:ext cx="3383280" cy="91440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GloVe Twitter 200d</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Pretrained embeddings ειδικά σε tweets</a:t>
            </a:r>
            <a:endParaRPr lang="en-US" sz="1100" dirty="0"/>
          </a:p>
          <a:p>
            <a:pPr marL="0" indent="0">
              <a:buNone/>
            </a:pP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Ελαφρύ preprocessing: tweet-preprocessor tokenization, lowercasing, minimal token cleaning</a:t>
            </a:r>
            <a:endParaRPr lang="en-US" sz="1100" dirty="0"/>
          </a:p>
        </p:txBody>
      </p:sp>
      <p:sp>
        <p:nvSpPr>
          <p:cNvPr id="9" name="Shape 6"/>
          <p:cNvSpPr/>
          <p:nvPr/>
        </p:nvSpPr>
        <p:spPr>
          <a:xfrm>
            <a:off x="457200" y="3108960"/>
            <a:ext cx="393192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7"/>
          <p:cNvSpPr/>
          <p:nvPr/>
        </p:nvSpPr>
        <p:spPr>
          <a:xfrm>
            <a:off x="457200" y="3108960"/>
            <a:ext cx="3931920" cy="54864"/>
          </a:xfrm>
          <a:prstGeom prst="rect">
            <a:avLst/>
          </a:prstGeom>
          <a:solidFill>
            <a:srgbClr val="F59E0B"/>
          </a:solidFill>
          <a:ln/>
        </p:spPr>
        <p:txBody>
          <a:bodyPr/>
          <a:lstStyle/>
          <a:p>
            <a:endParaRPr lang="en-US"/>
          </a:p>
        </p:txBody>
      </p:sp>
      <p:sp>
        <p:nvSpPr>
          <p:cNvPr id="11" name="Shape 8"/>
          <p:cNvSpPr/>
          <p:nvPr/>
        </p:nvSpPr>
        <p:spPr>
          <a:xfrm>
            <a:off x="685800" y="3337560"/>
            <a:ext cx="438912" cy="438912"/>
          </a:xfrm>
          <a:prstGeom prst="ellipse">
            <a:avLst/>
          </a:prstGeom>
          <a:solidFill>
            <a:srgbClr val="F59E0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749808" y="3401568"/>
            <a:ext cx="310896" cy="310896"/>
          </a:xfrm>
          <a:prstGeom prst="rect">
            <a:avLst/>
          </a:prstGeom>
        </p:spPr>
      </p:pic>
      <p:sp>
        <p:nvSpPr>
          <p:cNvPr id="13" name="Text 9"/>
          <p:cNvSpPr/>
          <p:nvPr/>
        </p:nvSpPr>
        <p:spPr>
          <a:xfrm>
            <a:off x="1280160" y="3383280"/>
            <a:ext cx="2743200" cy="365760"/>
          </a:xfrm>
          <a:prstGeom prst="rect">
            <a:avLst/>
          </a:prstGeom>
          <a:noFill/>
          <a:ln/>
        </p:spPr>
        <p:txBody>
          <a:bodyPr wrap="square" lIns="0" tIns="0" rIns="0" bIns="0" rtlCol="0" anchor="ctr"/>
          <a:lstStyle/>
          <a:p>
            <a:pPr marL="0" indent="0">
              <a:buNone/>
            </a:pPr>
            <a:r>
              <a:rPr lang="en-US" sz="1400" b="1" dirty="0">
                <a:solidFill>
                  <a:srgbClr val="1B2A4A"/>
                </a:solidFill>
                <a:latin typeface="Georgia" pitchFamily="34" charset="0"/>
                <a:ea typeface="Georgia" pitchFamily="34" charset="-122"/>
                <a:cs typeface="Georgia" pitchFamily="34" charset="-120"/>
              </a:rPr>
              <a:t>Back-Translation Augmentation</a:t>
            </a:r>
            <a:endParaRPr lang="en-US" sz="1400" dirty="0"/>
          </a:p>
        </p:txBody>
      </p:sp>
      <p:sp>
        <p:nvSpPr>
          <p:cNvPr id="14" name="Text 10"/>
          <p:cNvSpPr/>
          <p:nvPr/>
        </p:nvSpPr>
        <p:spPr>
          <a:xfrm>
            <a:off x="731520" y="3840480"/>
            <a:ext cx="3383280" cy="8229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Αντί SMOTE: μετάφραση tweets μειονοτικών κλάσεων (IndirectH, PhysicalH) σε Γερμανικά, Ελληνικά, Γαλλικά και πίσω στα Αγγλικά — δημιουργία παραφράσεων.</a:t>
            </a:r>
            <a:endParaRPr lang="en-US" sz="1100" dirty="0"/>
          </a:p>
        </p:txBody>
      </p:sp>
      <p:sp>
        <p:nvSpPr>
          <p:cNvPr id="15" name="Shape 11"/>
          <p:cNvSpPr/>
          <p:nvPr/>
        </p:nvSpPr>
        <p:spPr>
          <a:xfrm>
            <a:off x="4754880" y="1097280"/>
            <a:ext cx="3931920" cy="3657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6" name="Shape 12"/>
          <p:cNvSpPr/>
          <p:nvPr/>
        </p:nvSpPr>
        <p:spPr>
          <a:xfrm>
            <a:off x="4754880" y="1097280"/>
            <a:ext cx="3931920" cy="54864"/>
          </a:xfrm>
          <a:prstGeom prst="rect">
            <a:avLst/>
          </a:prstGeom>
          <a:solidFill>
            <a:srgbClr val="2C6E91"/>
          </a:solidFill>
          <a:ln/>
        </p:spPr>
        <p:txBody>
          <a:bodyPr/>
          <a:lstStyle/>
          <a:p>
            <a:endParaRPr lang="en-US"/>
          </a:p>
        </p:txBody>
      </p:sp>
      <p:sp>
        <p:nvSpPr>
          <p:cNvPr id="17" name="Shape 13"/>
          <p:cNvSpPr/>
          <p:nvPr/>
        </p:nvSpPr>
        <p:spPr>
          <a:xfrm>
            <a:off x="4983480" y="1325880"/>
            <a:ext cx="438912" cy="438912"/>
          </a:xfrm>
          <a:prstGeom prst="ellipse">
            <a:avLst/>
          </a:prstGeom>
          <a:solidFill>
            <a:srgbClr val="2C6E91"/>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5047488" y="1389888"/>
            <a:ext cx="310896" cy="310896"/>
          </a:xfrm>
          <a:prstGeom prst="rect">
            <a:avLst/>
          </a:prstGeom>
        </p:spPr>
      </p:pic>
      <p:sp>
        <p:nvSpPr>
          <p:cNvPr id="19" name="Text 14"/>
          <p:cNvSpPr/>
          <p:nvPr/>
        </p:nvSpPr>
        <p:spPr>
          <a:xfrm>
            <a:off x="5577840" y="1371600"/>
            <a:ext cx="2926080" cy="365760"/>
          </a:xfrm>
          <a:prstGeom prst="rect">
            <a:avLst/>
          </a:prstGeom>
          <a:noFill/>
          <a:ln/>
        </p:spPr>
        <p:txBody>
          <a:bodyPr wrap="square" lIns="0" tIns="0" rIns="0" bIns="0" rtlCol="0" anchor="ctr"/>
          <a:lstStyle/>
          <a:p>
            <a:pPr marL="0" indent="0">
              <a:buNone/>
            </a:pPr>
            <a:r>
              <a:rPr lang="en-US" sz="1400" b="1" dirty="0">
                <a:solidFill>
                  <a:srgbClr val="1B2A4A"/>
                </a:solidFill>
                <a:latin typeface="Georgia" pitchFamily="34" charset="0"/>
                <a:ea typeface="Georgia" pitchFamily="34" charset="-122"/>
                <a:cs typeface="Georgia" pitchFamily="34" charset="-120"/>
              </a:rPr>
              <a:t>8 Αρχιτεκτονικές (GRU-based)</a:t>
            </a:r>
            <a:endParaRPr lang="en-US" sz="1400" dirty="0"/>
          </a:p>
        </p:txBody>
      </p:sp>
      <p:sp>
        <p:nvSpPr>
          <p:cNvPr id="20" name="Shape 15"/>
          <p:cNvSpPr/>
          <p:nvPr/>
        </p:nvSpPr>
        <p:spPr>
          <a:xfrm>
            <a:off x="5029200" y="1920240"/>
            <a:ext cx="3474720" cy="365760"/>
          </a:xfrm>
          <a:prstGeom prst="rect">
            <a:avLst/>
          </a:prstGeom>
          <a:solidFill>
            <a:srgbClr val="EDF2F7"/>
          </a:solidFill>
          <a:ln/>
        </p:spPr>
        <p:txBody>
          <a:bodyPr/>
          <a:lstStyle/>
          <a:p>
            <a:endParaRPr lang="en-US"/>
          </a:p>
        </p:txBody>
      </p:sp>
      <p:sp>
        <p:nvSpPr>
          <p:cNvPr id="21" name="Text 16"/>
          <p:cNvSpPr/>
          <p:nvPr/>
        </p:nvSpPr>
        <p:spPr>
          <a:xfrm>
            <a:off x="5120640" y="1920240"/>
            <a:ext cx="1737360" cy="365760"/>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VanillaRNN</a:t>
            </a:r>
            <a:endParaRPr lang="en-US" sz="1050" dirty="0"/>
          </a:p>
        </p:txBody>
      </p:sp>
      <p:sp>
        <p:nvSpPr>
          <p:cNvPr id="22" name="Text 17"/>
          <p:cNvSpPr/>
          <p:nvPr/>
        </p:nvSpPr>
        <p:spPr>
          <a:xfrm>
            <a:off x="6858000" y="1920240"/>
            <a:ext cx="1554480" cy="3657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Last state / Avg pooling</a:t>
            </a:r>
            <a:endParaRPr lang="en-US" sz="950" dirty="0"/>
          </a:p>
        </p:txBody>
      </p:sp>
      <p:sp>
        <p:nvSpPr>
          <p:cNvPr id="23" name="Shape 18"/>
          <p:cNvSpPr/>
          <p:nvPr/>
        </p:nvSpPr>
        <p:spPr>
          <a:xfrm>
            <a:off x="5029200" y="2359152"/>
            <a:ext cx="3474720" cy="365760"/>
          </a:xfrm>
          <a:prstGeom prst="rect">
            <a:avLst/>
          </a:prstGeom>
          <a:solidFill>
            <a:srgbClr val="FFFFFF"/>
          </a:solidFill>
          <a:ln/>
        </p:spPr>
        <p:txBody>
          <a:bodyPr/>
          <a:lstStyle/>
          <a:p>
            <a:endParaRPr lang="en-US"/>
          </a:p>
        </p:txBody>
      </p:sp>
      <p:sp>
        <p:nvSpPr>
          <p:cNvPr id="24" name="Text 19"/>
          <p:cNvSpPr/>
          <p:nvPr/>
        </p:nvSpPr>
        <p:spPr>
          <a:xfrm>
            <a:off x="5120640" y="2359152"/>
            <a:ext cx="1737360" cy="365760"/>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ProjectedVanillaRNN</a:t>
            </a:r>
            <a:endParaRPr lang="en-US" sz="1050" dirty="0"/>
          </a:p>
        </p:txBody>
      </p:sp>
      <p:sp>
        <p:nvSpPr>
          <p:cNvPr id="25" name="Text 20"/>
          <p:cNvSpPr/>
          <p:nvPr/>
        </p:nvSpPr>
        <p:spPr>
          <a:xfrm>
            <a:off x="6858000" y="2359152"/>
            <a:ext cx="1554480" cy="3657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Projection layer + RNN</a:t>
            </a:r>
            <a:endParaRPr lang="en-US" sz="950" dirty="0"/>
          </a:p>
        </p:txBody>
      </p:sp>
      <p:sp>
        <p:nvSpPr>
          <p:cNvPr id="26" name="Shape 21"/>
          <p:cNvSpPr/>
          <p:nvPr/>
        </p:nvSpPr>
        <p:spPr>
          <a:xfrm>
            <a:off x="5029200" y="2798064"/>
            <a:ext cx="3474720" cy="365760"/>
          </a:xfrm>
          <a:prstGeom prst="rect">
            <a:avLst/>
          </a:prstGeom>
          <a:solidFill>
            <a:srgbClr val="EDF2F7"/>
          </a:solidFill>
          <a:ln/>
        </p:spPr>
        <p:txBody>
          <a:bodyPr/>
          <a:lstStyle/>
          <a:p>
            <a:endParaRPr lang="en-US"/>
          </a:p>
        </p:txBody>
      </p:sp>
      <p:sp>
        <p:nvSpPr>
          <p:cNvPr id="27" name="Text 22"/>
          <p:cNvSpPr/>
          <p:nvPr/>
        </p:nvSpPr>
        <p:spPr>
          <a:xfrm>
            <a:off x="5120640" y="2798064"/>
            <a:ext cx="1737360" cy="365760"/>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AttentionRNN</a:t>
            </a:r>
            <a:endParaRPr lang="en-US" sz="1050" dirty="0"/>
          </a:p>
        </p:txBody>
      </p:sp>
      <p:sp>
        <p:nvSpPr>
          <p:cNvPr id="28" name="Text 23"/>
          <p:cNvSpPr/>
          <p:nvPr/>
        </p:nvSpPr>
        <p:spPr>
          <a:xfrm>
            <a:off x="6858000" y="2798064"/>
            <a:ext cx="1554480" cy="3657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Single attention mechanism</a:t>
            </a:r>
            <a:endParaRPr lang="en-US" sz="950" dirty="0"/>
          </a:p>
        </p:txBody>
      </p:sp>
      <p:sp>
        <p:nvSpPr>
          <p:cNvPr id="29" name="Shape 24"/>
          <p:cNvSpPr/>
          <p:nvPr/>
        </p:nvSpPr>
        <p:spPr>
          <a:xfrm>
            <a:off x="5029200" y="3236976"/>
            <a:ext cx="3474720" cy="365760"/>
          </a:xfrm>
          <a:prstGeom prst="rect">
            <a:avLst/>
          </a:prstGeom>
          <a:solidFill>
            <a:srgbClr val="FFFFFF"/>
          </a:solidFill>
          <a:ln/>
        </p:spPr>
        <p:txBody>
          <a:bodyPr/>
          <a:lstStyle/>
          <a:p>
            <a:endParaRPr lang="en-US"/>
          </a:p>
        </p:txBody>
      </p:sp>
      <p:sp>
        <p:nvSpPr>
          <p:cNvPr id="30" name="Text 25"/>
          <p:cNvSpPr/>
          <p:nvPr/>
        </p:nvSpPr>
        <p:spPr>
          <a:xfrm>
            <a:off x="5120640" y="3236976"/>
            <a:ext cx="1737360" cy="365760"/>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ProjectedAttentionRNN</a:t>
            </a:r>
            <a:endParaRPr lang="en-US" sz="1050" dirty="0"/>
          </a:p>
        </p:txBody>
      </p:sp>
      <p:sp>
        <p:nvSpPr>
          <p:cNvPr id="31" name="Text 26"/>
          <p:cNvSpPr/>
          <p:nvPr/>
        </p:nvSpPr>
        <p:spPr>
          <a:xfrm>
            <a:off x="6858000" y="3236976"/>
            <a:ext cx="1554480" cy="3657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Projection + attention</a:t>
            </a:r>
            <a:endParaRPr lang="en-US" sz="950" dirty="0"/>
          </a:p>
        </p:txBody>
      </p:sp>
      <p:sp>
        <p:nvSpPr>
          <p:cNvPr id="32" name="Shape 27"/>
          <p:cNvSpPr/>
          <p:nvPr/>
        </p:nvSpPr>
        <p:spPr>
          <a:xfrm>
            <a:off x="5029200" y="3675888"/>
            <a:ext cx="3474720" cy="365760"/>
          </a:xfrm>
          <a:prstGeom prst="rect">
            <a:avLst/>
          </a:prstGeom>
          <a:solidFill>
            <a:srgbClr val="EDF2F7"/>
          </a:solidFill>
          <a:ln/>
        </p:spPr>
        <p:txBody>
          <a:bodyPr/>
          <a:lstStyle/>
          <a:p>
            <a:endParaRPr lang="en-US"/>
          </a:p>
        </p:txBody>
      </p:sp>
      <p:sp>
        <p:nvSpPr>
          <p:cNvPr id="33" name="Text 28"/>
          <p:cNvSpPr/>
          <p:nvPr/>
        </p:nvSpPr>
        <p:spPr>
          <a:xfrm>
            <a:off x="5120640" y="3675888"/>
            <a:ext cx="1737360" cy="365760"/>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MultiAttentionRNN</a:t>
            </a:r>
            <a:endParaRPr lang="en-US" sz="1050" dirty="0"/>
          </a:p>
        </p:txBody>
      </p:sp>
      <p:sp>
        <p:nvSpPr>
          <p:cNvPr id="34" name="Text 29"/>
          <p:cNvSpPr/>
          <p:nvPr/>
        </p:nvSpPr>
        <p:spPr>
          <a:xfrm>
            <a:off x="6858000" y="3675888"/>
            <a:ext cx="1554480" cy="3657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4 task-specific attention heads</a:t>
            </a:r>
            <a:endParaRPr lang="en-US" sz="950" dirty="0"/>
          </a:p>
        </p:txBody>
      </p:sp>
      <p:sp>
        <p:nvSpPr>
          <p:cNvPr id="35" name="Shape 30"/>
          <p:cNvSpPr/>
          <p:nvPr/>
        </p:nvSpPr>
        <p:spPr>
          <a:xfrm>
            <a:off x="5029200" y="4114800"/>
            <a:ext cx="3474720" cy="365760"/>
          </a:xfrm>
          <a:prstGeom prst="rect">
            <a:avLst/>
          </a:prstGeom>
          <a:solidFill>
            <a:srgbClr val="FFFFFF"/>
          </a:solidFill>
          <a:ln/>
        </p:spPr>
        <p:txBody>
          <a:bodyPr/>
          <a:lstStyle/>
          <a:p>
            <a:endParaRPr lang="en-US"/>
          </a:p>
        </p:txBody>
      </p:sp>
      <p:sp>
        <p:nvSpPr>
          <p:cNvPr id="36" name="Text 31"/>
          <p:cNvSpPr/>
          <p:nvPr/>
        </p:nvSpPr>
        <p:spPr>
          <a:xfrm>
            <a:off x="5120640" y="4114800"/>
            <a:ext cx="1737360" cy="365760"/>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ProjectedMultiAttn</a:t>
            </a:r>
            <a:endParaRPr lang="en-US" sz="1050" dirty="0"/>
          </a:p>
        </p:txBody>
      </p:sp>
      <p:sp>
        <p:nvSpPr>
          <p:cNvPr id="37" name="Text 32"/>
          <p:cNvSpPr/>
          <p:nvPr/>
        </p:nvSpPr>
        <p:spPr>
          <a:xfrm>
            <a:off x="6858000" y="4114800"/>
            <a:ext cx="1554480" cy="3657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Projection + multi-attention</a:t>
            </a:r>
            <a:endParaRPr lang="en-US" sz="950" dirty="0"/>
          </a:p>
        </p:txBody>
      </p:sp>
      <p:sp>
        <p:nvSpPr>
          <p:cNvPr id="38" name="Text 33"/>
          <p:cNvSpPr/>
          <p:nvPr/>
        </p:nvSpPr>
        <p:spPr>
          <a:xfrm>
            <a:off x="5029200" y="4572000"/>
            <a:ext cx="3474720" cy="365760"/>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Training: </a:t>
            </a:r>
            <a:r>
              <a:rPr lang="en-US" sz="1000" dirty="0">
                <a:solidFill>
                  <a:srgbClr val="64748B"/>
                </a:solidFill>
                <a:latin typeface="Calibri" pitchFamily="34" charset="0"/>
                <a:ea typeface="Calibri" pitchFamily="34" charset="-122"/>
                <a:cs typeface="Calibri" pitchFamily="34" charset="-120"/>
              </a:rPr>
              <a:t>BCEWithLogitsLoss, Adam (lr=0.001), early stopping (patience=10), 10 runs/model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Deep Learning — Αποτελέσματα</a:t>
            </a:r>
            <a:endParaRPr lang="en-US" sz="28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b="1" dirty="0">
                <a:solidFill>
                  <a:srgbClr val="2C6E91"/>
                </a:solidFill>
                <a:latin typeface="Calibri" pitchFamily="34" charset="0"/>
                <a:ea typeface="Calibri" pitchFamily="34" charset="-122"/>
                <a:cs typeface="Calibri" pitchFamily="34" charset="-120"/>
              </a:rPr>
              <a:t>F1 Score ανά μοντέλο και target (Test set, μέσος 10 runs)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1234440"/>
          <a:ext cx="7955280" cy="2880360"/>
        </p:xfrm>
        <a:graphic>
          <a:graphicData uri="http://schemas.openxmlformats.org/drawingml/2006/table">
            <a:tbl>
              <a:tblPr/>
              <a:tblGrid>
                <a:gridCol w="21945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32004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Sexual F1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Indirect F1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Physical F1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Harassment F1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F1 Macro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004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AttentionRNN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0.6750</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0.2963</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0.0878</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0.7095</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0.4422</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MultiAttentionRNN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0.6935</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0.3253</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0.1454</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0.7004</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0.4661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20040">
                <a:tc>
                  <a:txBody>
                    <a:bodyPr/>
                    <a:lstStyle/>
                    <a:p>
                      <a:pPr marL="0" indent="0" algn="l">
                        <a:buNone/>
                      </a:pPr>
                      <a:r>
                        <a:rPr lang="en-US" sz="1000" b="1" dirty="0">
                          <a:solidFill>
                            <a:srgbClr val="0D9488"/>
                          </a:solidFill>
                          <a:latin typeface="Calibri" pitchFamily="34" charset="0"/>
                          <a:ea typeface="Calibri" pitchFamily="34" charset="-122"/>
                          <a:cs typeface="Calibri" pitchFamily="34" charset="-120"/>
                        </a:rPr>
                        <a:t>MultiProjectedAttnRNN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0.7141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0.3556</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0.1268</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0.6867</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D9488"/>
                          </a:solidFill>
                          <a:latin typeface="Calibri" pitchFamily="34" charset="0"/>
                          <a:ea typeface="Calibri" pitchFamily="34" charset="-122"/>
                          <a:cs typeface="Calibri" pitchFamily="34" charset="-120"/>
                        </a:rPr>
                        <a:t>0.4708</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ProjectedAttentionRNN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0.6923</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0.3153</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0.0194</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0.6941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0.4303</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2004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AvgRNN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0.6378</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0.1752</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0.1256</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0.6881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0.4067</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LastStateRNN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0.6991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0.2584</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0.1173</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0.7101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0.4462</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2004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ProjectedAvgRNN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0.6557</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0.2702</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0.1559</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0.6757</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0.4394</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4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ProjectedLastStateRNN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0.6962</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0.3347</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0.0727</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0.7080</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0.4529</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bl>
          </a:graphicData>
        </a:graphic>
      </p:graphicFrame>
      <p:sp>
        <p:nvSpPr>
          <p:cNvPr id="5" name="Shape 2"/>
          <p:cNvSpPr/>
          <p:nvPr/>
        </p:nvSpPr>
        <p:spPr>
          <a:xfrm>
            <a:off x="457200" y="4297680"/>
            <a:ext cx="8229600" cy="640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3"/>
          <p:cNvSpPr/>
          <p:nvPr/>
        </p:nvSpPr>
        <p:spPr>
          <a:xfrm>
            <a:off x="457200" y="4297680"/>
            <a:ext cx="64008" cy="640080"/>
          </a:xfrm>
          <a:prstGeom prst="rect">
            <a:avLst/>
          </a:prstGeom>
          <a:solidFill>
            <a:srgbClr val="0D948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4407408"/>
            <a:ext cx="365760" cy="365760"/>
          </a:xfrm>
          <a:prstGeom prst="rect">
            <a:avLst/>
          </a:prstGeom>
        </p:spPr>
      </p:pic>
      <p:sp>
        <p:nvSpPr>
          <p:cNvPr id="8" name="Text 4"/>
          <p:cNvSpPr/>
          <p:nvPr/>
        </p:nvSpPr>
        <p:spPr>
          <a:xfrm>
            <a:off x="1234440" y="4297680"/>
            <a:ext cx="7132320" cy="64008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Best: MultiProjectedAttentionRNN</a:t>
            </a:r>
            <a:r>
              <a:rPr lang="en-US" sz="1300" dirty="0">
                <a:solidFill>
                  <a:srgbClr val="334155"/>
                </a:solidFill>
                <a:latin typeface="Calibri" pitchFamily="34" charset="0"/>
                <a:ea typeface="Calibri" pitchFamily="34" charset="-122"/>
                <a:cs typeface="Calibri" pitchFamily="34" charset="-120"/>
              </a:rPr>
              <a:t>  —  F1 Macro: </a:t>
            </a:r>
            <a:r>
              <a:rPr lang="en-US" sz="1300" b="1" dirty="0">
                <a:solidFill>
                  <a:srgbClr val="0D9488"/>
                </a:solidFill>
                <a:latin typeface="Calibri" pitchFamily="34" charset="0"/>
                <a:ea typeface="Calibri" pitchFamily="34" charset="-122"/>
                <a:cs typeface="Calibri" pitchFamily="34" charset="-120"/>
              </a:rPr>
              <a:t>0.4708</a:t>
            </a:r>
            <a:r>
              <a:rPr lang="en-US" sz="1300" dirty="0">
                <a:solidFill>
                  <a:srgbClr val="64748B"/>
                </a:solidFill>
                <a:latin typeface="Calibri" pitchFamily="34" charset="0"/>
                <a:ea typeface="Calibri" pitchFamily="34" charset="-122"/>
                <a:cs typeface="Calibri" pitchFamily="34" charset="-120"/>
              </a:rPr>
              <a:t>  (projection + task-specific multi-attention heads)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Σύγκριση Προσεγγίσεων</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520440"/>
        </p:xfrm>
        <a:graphic>
          <a:graphicData uri="http://schemas.openxmlformats.org/drawingml/2006/table">
            <a:tbl>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20040">
                <a:tc>
                  <a:txBody>
                    <a:bodyPr/>
                    <a:lstStyle/>
                    <a:p>
                      <a:pPr marL="0" indent="0">
                        <a:buNone/>
                      </a:pP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Traditional ML</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Deep Learning</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0040">
                <a:tc>
                  <a:txBody>
                    <a:bodyPr/>
                    <a:lstStyle/>
                    <a:p>
                      <a:pPr marL="0" indent="0">
                        <a:buNone/>
                      </a:pPr>
                      <a:r>
                        <a:rPr lang="en-US" sz="1000" b="1" dirty="0">
                          <a:solidFill>
                            <a:srgbClr val="1B2A4A"/>
                          </a:solidFill>
                          <a:latin typeface="Calibri" pitchFamily="34" charset="0"/>
                          <a:ea typeface="Calibri" pitchFamily="34" charset="-122"/>
                          <a:cs typeface="Calibri" pitchFamily="34" charset="-120"/>
                        </a:rPr>
                        <a:t>Αναπαράσταση</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TF-IDF (sparse, ~20K)</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GloVe 200d (dense)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en-US" sz="1000" b="1" dirty="0">
                          <a:solidFill>
                            <a:srgbClr val="1B2A4A"/>
                          </a:solidFill>
                          <a:latin typeface="Calibri" pitchFamily="34" charset="0"/>
                          <a:ea typeface="Calibri" pitchFamily="34" charset="-122"/>
                          <a:cs typeface="Calibri" pitchFamily="34" charset="-120"/>
                        </a:rPr>
                        <a:t>Features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Χειροποίητα (stemming, regex)</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Learned representations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20040">
                <a:tc>
                  <a:txBody>
                    <a:bodyPr/>
                    <a:lstStyle/>
                    <a:p>
                      <a:pPr marL="0" indent="0">
                        <a:buNone/>
                      </a:pPr>
                      <a:r>
                        <a:rPr lang="en-US" sz="1000" b="1" dirty="0">
                          <a:solidFill>
                            <a:srgbClr val="1B2A4A"/>
                          </a:solidFill>
                          <a:latin typeface="Calibri" pitchFamily="34" charset="0"/>
                          <a:ea typeface="Calibri" pitchFamily="34" charset="-122"/>
                          <a:cs typeface="Calibri" pitchFamily="34" charset="-120"/>
                        </a:rPr>
                        <a:t>Μοντέλα</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NB, SVM, LR, RF, Ensemble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GRU + Attention variants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en-US" sz="1000" b="1" dirty="0">
                          <a:solidFill>
                            <a:srgbClr val="1B2A4A"/>
                          </a:solidFill>
                          <a:latin typeface="Calibri" pitchFamily="34" charset="0"/>
                          <a:ea typeface="Calibri" pitchFamily="34" charset="-122"/>
                          <a:cs typeface="Calibri" pitchFamily="34" charset="-120"/>
                        </a:rPr>
                        <a:t>Imbalance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SMOTE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Back-translation augmentation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20040">
                <a:tc>
                  <a:txBody>
                    <a:bodyPr/>
                    <a:lstStyle/>
                    <a:p>
                      <a:pPr marL="0" indent="0">
                        <a:buNone/>
                      </a:pPr>
                      <a:r>
                        <a:rPr lang="en-US" sz="1000" b="1" dirty="0">
                          <a:solidFill>
                            <a:srgbClr val="1B2A4A"/>
                          </a:solidFill>
                          <a:latin typeface="Calibri" pitchFamily="34" charset="0"/>
                          <a:ea typeface="Calibri" pitchFamily="34" charset="-122"/>
                          <a:cs typeface="Calibri" pitchFamily="34" charset="-120"/>
                        </a:rPr>
                        <a:t>Task Setup</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Ξεχωριστοί classifiers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Multi-label (4 outputs)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buNone/>
                      </a:pPr>
                      <a:r>
                        <a:rPr lang="en-US" sz="1000" b="1" dirty="0">
                          <a:solidFill>
                            <a:srgbClr val="1B2A4A"/>
                          </a:solidFill>
                          <a:latin typeface="Calibri" pitchFamily="34" charset="0"/>
                          <a:ea typeface="Calibri" pitchFamily="34" charset="-122"/>
                          <a:cs typeface="Calibri" pitchFamily="34" charset="-120"/>
                        </a:rPr>
                        <a:t>Attention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Task-specific heads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20040">
                <a:tc>
                  <a:txBody>
                    <a:bodyPr/>
                    <a:lstStyle/>
                    <a:p>
                      <a:pPr marL="0" indent="0">
                        <a:buNone/>
                      </a:pPr>
                      <a:r>
                        <a:rPr lang="en-US" sz="1000" b="1" dirty="0">
                          <a:solidFill>
                            <a:srgbClr val="1B2A4A"/>
                          </a:solidFill>
                          <a:latin typeface="Calibri" pitchFamily="34" charset="0"/>
                          <a:ea typeface="Calibri" pitchFamily="34" charset="-122"/>
                          <a:cs typeface="Calibri" pitchFamily="34" charset="-120"/>
                        </a:rPr>
                        <a:t>Best Harassment F1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0.7344 (SVM-Linear)</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0.7101 (LastStateRNN)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40">
                <a:tc>
                  <a:txBody>
                    <a:bodyPr/>
                    <a:lstStyle/>
                    <a:p>
                      <a:pPr marL="0" indent="0">
                        <a:buNone/>
                      </a:pPr>
                      <a:r>
                        <a:rPr lang="en-US" sz="1000" b="1" dirty="0">
                          <a:solidFill>
                            <a:srgbClr val="1B2A4A"/>
                          </a:solidFill>
                          <a:latin typeface="Calibri" pitchFamily="34" charset="0"/>
                          <a:ea typeface="Calibri" pitchFamily="34" charset="-122"/>
                          <a:cs typeface="Calibri" pitchFamily="34" charset="-120"/>
                        </a:rPr>
                        <a:t>Best Sexual F1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0.8202 (RandomForest)</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0.7141 (MultiProjAttn)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r h="320040">
                <a:tc>
                  <a:txBody>
                    <a:bodyPr/>
                    <a:lstStyle/>
                    <a:p>
                      <a:pPr marL="0" indent="0">
                        <a:buNone/>
                      </a:pPr>
                      <a:r>
                        <a:rPr lang="en-US" sz="1000" b="1" dirty="0">
                          <a:solidFill>
                            <a:srgbClr val="1B2A4A"/>
                          </a:solidFill>
                          <a:latin typeface="Calibri" pitchFamily="34" charset="0"/>
                          <a:ea typeface="Calibri" pitchFamily="34" charset="-122"/>
                          <a:cs typeface="Calibri" pitchFamily="34" charset="-120"/>
                        </a:rPr>
                        <a:t>Best Indirect F1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0.5272 (LogReg)</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0.3556 (MultiProjAttn)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0040">
                <a:tc>
                  <a:txBody>
                    <a:bodyPr/>
                    <a:lstStyle/>
                    <a:p>
                      <a:pPr marL="0" indent="0">
                        <a:buNone/>
                      </a:pPr>
                      <a:r>
                        <a:rPr lang="en-US" sz="1000" b="1" dirty="0">
                          <a:solidFill>
                            <a:srgbClr val="1B2A4A"/>
                          </a:solidFill>
                          <a:latin typeface="Calibri" pitchFamily="34" charset="0"/>
                          <a:ea typeface="Calibri" pitchFamily="34" charset="-122"/>
                          <a:cs typeface="Calibri" pitchFamily="34" charset="-120"/>
                        </a:rPr>
                        <a:t>Best Physical F1</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0.5243 (NaiveBayes)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0.1559 (ProjAvgRNN)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en-US"/>
          </a:p>
        </p:txBody>
      </p:sp>
      <p:sp>
        <p:nvSpPr>
          <p:cNvPr id="3" name="Shape 1"/>
          <p:cNvSpPr/>
          <p:nvPr/>
        </p:nvSpPr>
        <p:spPr>
          <a:xfrm>
            <a:off x="0" y="5070348"/>
            <a:ext cx="9144000" cy="73152"/>
          </a:xfrm>
          <a:prstGeom prst="rect">
            <a:avLst/>
          </a:prstGeom>
          <a:solidFill>
            <a:srgbClr val="0D9488"/>
          </a:solidFill>
          <a:ln/>
        </p:spPr>
        <p:txBody>
          <a:bodyPr/>
          <a:lstStyle/>
          <a:p>
            <a:endParaRPr lang="en-US"/>
          </a:p>
        </p:txBody>
      </p:sp>
      <p:sp>
        <p:nvSpPr>
          <p:cNvPr id="4" name="Text 2"/>
          <p:cNvSpPr/>
          <p:nvPr/>
        </p:nvSpPr>
        <p:spPr>
          <a:xfrm>
            <a:off x="457200" y="3657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Συμπεράσματα</a:t>
            </a:r>
            <a:endParaRPr lang="en-US" sz="3200" dirty="0"/>
          </a:p>
        </p:txBody>
      </p:sp>
      <p:sp>
        <p:nvSpPr>
          <p:cNvPr id="5" name="Shape 3"/>
          <p:cNvSpPr/>
          <p:nvPr/>
        </p:nvSpPr>
        <p:spPr>
          <a:xfrm>
            <a:off x="731520" y="1280160"/>
            <a:ext cx="7680960" cy="1051560"/>
          </a:xfrm>
          <a:prstGeom prst="rect">
            <a:avLst/>
          </a:prstGeom>
          <a:solidFill>
            <a:srgbClr val="1E3A5F"/>
          </a:solidFill>
          <a:ln/>
        </p:spPr>
        <p:txBody>
          <a:bodyPr/>
          <a:lstStyle/>
          <a:p>
            <a:endParaRPr lang="en-US"/>
          </a:p>
        </p:txBody>
      </p:sp>
      <p:sp>
        <p:nvSpPr>
          <p:cNvPr id="6" name="Shape 4"/>
          <p:cNvSpPr/>
          <p:nvPr/>
        </p:nvSpPr>
        <p:spPr>
          <a:xfrm>
            <a:off x="731520" y="1280160"/>
            <a:ext cx="64008" cy="1051560"/>
          </a:xfrm>
          <a:prstGeom prst="rect">
            <a:avLst/>
          </a:prstGeom>
          <a:solidFill>
            <a:srgbClr val="0D9488"/>
          </a:solidFill>
          <a:ln/>
        </p:spPr>
        <p:txBody>
          <a:bodyPr/>
          <a:lstStyle/>
          <a:p>
            <a:endParaRPr lang="en-US"/>
          </a:p>
        </p:txBody>
      </p:sp>
      <p:sp>
        <p:nvSpPr>
          <p:cNvPr id="7" name="Text 5"/>
          <p:cNvSpPr/>
          <p:nvPr/>
        </p:nvSpPr>
        <p:spPr>
          <a:xfrm>
            <a:off x="1051560" y="1371600"/>
            <a:ext cx="7132320" cy="36576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Traditional ML υπερτερεί σε F1 scores</a:t>
            </a:r>
            <a:endParaRPr lang="en-US" sz="1500" dirty="0"/>
          </a:p>
        </p:txBody>
      </p:sp>
      <p:sp>
        <p:nvSpPr>
          <p:cNvPr id="8" name="Text 6"/>
          <p:cNvSpPr/>
          <p:nvPr/>
        </p:nvSpPr>
        <p:spPr>
          <a:xfrm>
            <a:off x="1051560" y="1783080"/>
            <a:ext cx="71323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Σε όλα τα binary targets, οι κλασικοί αλγόριθμοι πέτυχαν υψηλότερα F1, ειδικά σε IndirectH (0.53 vs 0.36) και PhysicalH (0.52 vs 0.16).</a:t>
            </a:r>
            <a:endParaRPr lang="en-US" sz="1150" dirty="0"/>
          </a:p>
        </p:txBody>
      </p:sp>
      <p:sp>
        <p:nvSpPr>
          <p:cNvPr id="9" name="Shape 7"/>
          <p:cNvSpPr/>
          <p:nvPr/>
        </p:nvSpPr>
        <p:spPr>
          <a:xfrm>
            <a:off x="731520" y="2514600"/>
            <a:ext cx="7680960" cy="1051560"/>
          </a:xfrm>
          <a:prstGeom prst="rect">
            <a:avLst/>
          </a:prstGeom>
          <a:solidFill>
            <a:srgbClr val="1E3A5F"/>
          </a:solidFill>
          <a:ln/>
        </p:spPr>
        <p:txBody>
          <a:bodyPr/>
          <a:lstStyle/>
          <a:p>
            <a:endParaRPr lang="en-US"/>
          </a:p>
        </p:txBody>
      </p:sp>
      <p:sp>
        <p:nvSpPr>
          <p:cNvPr id="10" name="Shape 8"/>
          <p:cNvSpPr/>
          <p:nvPr/>
        </p:nvSpPr>
        <p:spPr>
          <a:xfrm>
            <a:off x="731520" y="2514600"/>
            <a:ext cx="64008" cy="1051560"/>
          </a:xfrm>
          <a:prstGeom prst="rect">
            <a:avLst/>
          </a:prstGeom>
          <a:solidFill>
            <a:srgbClr val="2C6E91"/>
          </a:solidFill>
          <a:ln/>
        </p:spPr>
        <p:txBody>
          <a:bodyPr/>
          <a:lstStyle/>
          <a:p>
            <a:endParaRPr lang="en-US"/>
          </a:p>
        </p:txBody>
      </p:sp>
      <p:sp>
        <p:nvSpPr>
          <p:cNvPr id="11" name="Text 9"/>
          <p:cNvSpPr/>
          <p:nvPr/>
        </p:nvSpPr>
        <p:spPr>
          <a:xfrm>
            <a:off x="1051560" y="2606040"/>
            <a:ext cx="7132320" cy="36576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Η χειροποίητη αναπαράσταση αποδείχτηκε αποτελεσματική</a:t>
            </a:r>
            <a:endParaRPr lang="en-US" sz="1500" dirty="0"/>
          </a:p>
        </p:txBody>
      </p:sp>
      <p:sp>
        <p:nvSpPr>
          <p:cNvPr id="12" name="Text 10"/>
          <p:cNvSpPr/>
          <p:nvPr/>
        </p:nvSpPr>
        <p:spPr>
          <a:xfrm>
            <a:off x="1051560" y="3017520"/>
            <a:ext cx="71323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Ο συνδυασμός word + character TF-IDF με SMOTE κέρδισε τα deep learning embeddings, πιθανώς λόγω του μικρού dataset.</a:t>
            </a:r>
            <a:endParaRPr lang="en-US" sz="1150" dirty="0"/>
          </a:p>
        </p:txBody>
      </p:sp>
      <p:sp>
        <p:nvSpPr>
          <p:cNvPr id="13" name="Shape 11"/>
          <p:cNvSpPr/>
          <p:nvPr/>
        </p:nvSpPr>
        <p:spPr>
          <a:xfrm>
            <a:off x="731520" y="3749040"/>
            <a:ext cx="7680960" cy="1051560"/>
          </a:xfrm>
          <a:prstGeom prst="rect">
            <a:avLst/>
          </a:prstGeom>
          <a:solidFill>
            <a:srgbClr val="1E3A5F"/>
          </a:solidFill>
          <a:ln/>
        </p:spPr>
        <p:txBody>
          <a:bodyPr/>
          <a:lstStyle/>
          <a:p>
            <a:endParaRPr lang="en-US"/>
          </a:p>
        </p:txBody>
      </p:sp>
      <p:sp>
        <p:nvSpPr>
          <p:cNvPr id="14" name="Shape 12"/>
          <p:cNvSpPr/>
          <p:nvPr/>
        </p:nvSpPr>
        <p:spPr>
          <a:xfrm>
            <a:off x="731520" y="3749040"/>
            <a:ext cx="64008" cy="1051560"/>
          </a:xfrm>
          <a:prstGeom prst="rect">
            <a:avLst/>
          </a:prstGeom>
          <a:solidFill>
            <a:srgbClr val="7C3AED"/>
          </a:solidFill>
          <a:ln/>
        </p:spPr>
        <p:txBody>
          <a:bodyPr/>
          <a:lstStyle/>
          <a:p>
            <a:endParaRPr lang="en-US"/>
          </a:p>
        </p:txBody>
      </p:sp>
      <p:sp>
        <p:nvSpPr>
          <p:cNvPr id="15" name="Text 13"/>
          <p:cNvSpPr/>
          <p:nvPr/>
        </p:nvSpPr>
        <p:spPr>
          <a:xfrm>
            <a:off x="1051560" y="3840480"/>
            <a:ext cx="7132320" cy="36576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Multi-attention: </a:t>
            </a:r>
            <a:r>
              <a:rPr lang="en-US" sz="1500" b="1" dirty="0" err="1">
                <a:solidFill>
                  <a:srgbClr val="FFFFFF"/>
                </a:solidFill>
                <a:latin typeface="Georgia" pitchFamily="34" charset="0"/>
                <a:ea typeface="Georgia" pitchFamily="34" charset="-122"/>
                <a:cs typeface="Georgia" pitchFamily="34" charset="-120"/>
              </a:rPr>
              <a:t>ενδι</a:t>
            </a:r>
            <a:r>
              <a:rPr lang="en-US" sz="1500" b="1" dirty="0">
                <a:solidFill>
                  <a:srgbClr val="FFFFFF"/>
                </a:solidFill>
                <a:latin typeface="Georgia" pitchFamily="34" charset="0"/>
                <a:ea typeface="Georgia" pitchFamily="34" charset="-122"/>
                <a:cs typeface="Georgia" pitchFamily="34" charset="-120"/>
              </a:rPr>
              <a:t>αφέρουσα ιδέα</a:t>
            </a:r>
            <a:endParaRPr lang="en-US" sz="1500" dirty="0"/>
          </a:p>
        </p:txBody>
      </p:sp>
      <p:sp>
        <p:nvSpPr>
          <p:cNvPr id="16" name="Text 14"/>
          <p:cNvSpPr/>
          <p:nvPr/>
        </p:nvSpPr>
        <p:spPr>
          <a:xfrm>
            <a:off x="1051560" y="4251960"/>
            <a:ext cx="71323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Η ιδέα των task-specific attention heads είναι αρχιτεκτονικά κομψή αλλά δεν αντιστάθμισε τα πλεονεκτήματα των simpler models.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a:extLst>
            <a:ext uri="{FF2B5EF4-FFF2-40B4-BE49-F238E27FC236}">
              <a16:creationId xmlns:a16="http://schemas.microsoft.com/office/drawing/2014/main" id="{122FDBF5-DA94-4B2D-C499-DA6F644BE5B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B8C0F6B-2D26-E0FF-AEC2-3004CC3AB26F}"/>
              </a:ext>
            </a:extLst>
          </p:cNvPr>
          <p:cNvSpPr/>
          <p:nvPr/>
        </p:nvSpPr>
        <p:spPr>
          <a:xfrm>
            <a:off x="0" y="0"/>
            <a:ext cx="9144000" cy="73152"/>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1A3A9D02-E063-489E-18BB-CF1AA44E431D}"/>
              </a:ext>
            </a:extLst>
          </p:cNvPr>
          <p:cNvSpPr/>
          <p:nvPr/>
        </p:nvSpPr>
        <p:spPr>
          <a:xfrm>
            <a:off x="0" y="5070348"/>
            <a:ext cx="9144000" cy="73152"/>
          </a:xfrm>
          <a:prstGeom prst="rect">
            <a:avLst/>
          </a:prstGeom>
          <a:solidFill>
            <a:srgbClr val="0D9488"/>
          </a:solidFill>
          <a:ln/>
        </p:spPr>
        <p:txBody>
          <a:bodyPr/>
          <a:lstStyle/>
          <a:p>
            <a:endParaRPr lang="en-US"/>
          </a:p>
        </p:txBody>
      </p:sp>
      <p:sp>
        <p:nvSpPr>
          <p:cNvPr id="4" name="Text 2">
            <a:extLst>
              <a:ext uri="{FF2B5EF4-FFF2-40B4-BE49-F238E27FC236}">
                <a16:creationId xmlns:a16="http://schemas.microsoft.com/office/drawing/2014/main" id="{F5C492B8-C109-DE58-73CC-BC5E213C7264}"/>
              </a:ext>
            </a:extLst>
          </p:cNvPr>
          <p:cNvSpPr/>
          <p:nvPr/>
        </p:nvSpPr>
        <p:spPr>
          <a:xfrm>
            <a:off x="457200" y="3657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Συμπεράσματα</a:t>
            </a:r>
            <a:endParaRPr lang="en-US" sz="3200" dirty="0"/>
          </a:p>
        </p:txBody>
      </p:sp>
      <p:sp>
        <p:nvSpPr>
          <p:cNvPr id="5" name="TextBox 4">
            <a:extLst>
              <a:ext uri="{FF2B5EF4-FFF2-40B4-BE49-F238E27FC236}">
                <a16:creationId xmlns:a16="http://schemas.microsoft.com/office/drawing/2014/main" id="{8E1A3FE3-A4A4-F726-DD6B-707F28A58B1D}"/>
              </a:ext>
            </a:extLst>
          </p:cNvPr>
          <p:cNvSpPr txBox="1"/>
          <p:nvPr/>
        </p:nvSpPr>
        <p:spPr>
          <a:xfrm>
            <a:off x="538264" y="1147864"/>
            <a:ext cx="7918315" cy="3046988"/>
          </a:xfrm>
          <a:prstGeom prst="rect">
            <a:avLst/>
          </a:prstGeom>
          <a:noFill/>
        </p:spPr>
        <p:txBody>
          <a:bodyPr wrap="square" rtlCol="0">
            <a:spAutoFit/>
          </a:bodyPr>
          <a:lstStyle/>
          <a:p>
            <a:r>
              <a:rPr lang="el-GR" sz="1200" b="1" dirty="0">
                <a:solidFill>
                  <a:srgbClr val="92D050"/>
                </a:solidFill>
              </a:rPr>
              <a:t>Μέγεθος Dataset</a:t>
            </a:r>
            <a:r>
              <a:rPr lang="el-GR" sz="1200" dirty="0">
                <a:solidFill>
                  <a:schemeClr val="accent2">
                    <a:lumMod val="40000"/>
                    <a:lumOff val="60000"/>
                  </a:schemeClr>
                </a:solidFill>
              </a:rPr>
              <a:t>: Το μέγεθος του δείγματος είναι σχετικά μικρό, γεγονός που ευνοεί τα παραδοσιακά μοντέλα (Traditional ML). Αυτά γενικεύουν καλύτερα με λιγότερα δεδομένα, ενώ τα νευρωνικά δίκτυα απαιτούν τυπικά πολύ μεγαλύτερο όγκο δειγμάτων για να μην κάνουν overfitting.</a:t>
            </a:r>
          </a:p>
          <a:p>
            <a:endParaRPr lang="el-GR" sz="1200" dirty="0"/>
          </a:p>
          <a:p>
            <a:r>
              <a:rPr lang="el-GR" sz="1200" b="1" dirty="0">
                <a:solidFill>
                  <a:srgbClr val="92D050"/>
                </a:solidFill>
              </a:rPr>
              <a:t>Αναπαράσταση Χαρακτήρων (Character n-grams</a:t>
            </a:r>
            <a:r>
              <a:rPr lang="el-GR" sz="1200" dirty="0"/>
              <a:t>)</a:t>
            </a:r>
            <a:r>
              <a:rPr lang="el-GR" sz="1200" dirty="0">
                <a:solidFill>
                  <a:schemeClr val="accent2">
                    <a:lumMod val="40000"/>
                    <a:lumOff val="60000"/>
                  </a:schemeClr>
                </a:solidFill>
              </a:rPr>
              <a:t>: Η χειροποίητη αναπαράσταση μέσω TF-IDF — και ιδιαίτερα τα character n-grams — εντοπίζει ορθογραφικές παραλλαγές και σκόπιμες αλλοιώσεις λέξεων (π.χ. "h4te", "stupi d"). Αυτές οι λεπτομέρειες συχνά ξεφεύγουν από τα pre-trained word embeddings που βασίζονται σε έτοιμα λεξικά.</a:t>
            </a:r>
          </a:p>
          <a:p>
            <a:endParaRPr lang="el-GR" sz="1200" dirty="0">
              <a:solidFill>
                <a:schemeClr val="accent2">
                  <a:lumMod val="40000"/>
                  <a:lumOff val="60000"/>
                </a:schemeClr>
              </a:solidFill>
            </a:endParaRPr>
          </a:p>
          <a:p>
            <a:r>
              <a:rPr lang="el-GR" sz="1200" b="1" dirty="0">
                <a:solidFill>
                  <a:srgbClr val="92D050"/>
                </a:solidFill>
              </a:rPr>
              <a:t>Αρχιτεκτονική Ταξινόμησης</a:t>
            </a:r>
            <a:r>
              <a:rPr lang="el-GR" sz="1200" dirty="0">
                <a:solidFill>
                  <a:schemeClr val="accent2">
                    <a:lumMod val="40000"/>
                    <a:lumOff val="60000"/>
                  </a:schemeClr>
                </a:solidFill>
              </a:rPr>
              <a:t>: Η προσέγγιση Traditional ML χρησιμοποιεί ξεχωριστό binary classifier ανά target με εφαρμογή SMOTE (για εξισορρόπηση δεδομένων) και GridSearchCV (για βελτιστοποίηση). Αντίθετα, στο Deep Learning, ένα κοινό δίκτυο με weighted multi-task loss αναγκάζει τα σπάνια/δύσκολα targets να "ανταγωνίζονται" για τη χωρητικότητα του μοντέλου, μειώνοντας συχνά την απόδοση στα λιγότερο συχνά classes.</a:t>
            </a:r>
          </a:p>
          <a:p>
            <a:endParaRPr lang="el-GR" sz="1200" dirty="0">
              <a:solidFill>
                <a:schemeClr val="accent2">
                  <a:lumMod val="40000"/>
                  <a:lumOff val="60000"/>
                </a:schemeClr>
              </a:solidFill>
            </a:endParaRPr>
          </a:p>
          <a:p>
            <a:r>
              <a:rPr lang="el-GR" sz="1200" b="1" dirty="0">
                <a:solidFill>
                  <a:srgbClr val="92D050"/>
                </a:solidFill>
              </a:rPr>
              <a:t>Σημασιολογία και Corpus</a:t>
            </a:r>
            <a:r>
              <a:rPr lang="el-GR" sz="1200" dirty="0">
                <a:solidFill>
                  <a:schemeClr val="accent2">
                    <a:lumMod val="40000"/>
                    <a:lumOff val="60000"/>
                  </a:schemeClr>
                </a:solidFill>
              </a:rPr>
              <a:t>: Τα frozen GloVe embeddings έχουν εκπαιδευτεί σε γενικά κείμενα και δεν αποτυπώνουν την ειδική σημασιολογία της παρενόχλησης. Αντίθετα, τα TF-IDF features μαθαίνουν βάρη (weights) απευθείας από τη διανομή του δικού σου συγκεκριμένου corpus, προσαρμοζόμενα στις ιδιαιτερότητες των δεδομένων σου</a:t>
            </a:r>
            <a:r>
              <a:rPr lang="el-GR" sz="1200" dirty="0"/>
              <a:t>.</a:t>
            </a:r>
            <a:endParaRPr lang="en-US" sz="1200" dirty="0"/>
          </a:p>
        </p:txBody>
      </p:sp>
    </p:spTree>
    <p:extLst>
      <p:ext uri="{BB962C8B-B14F-4D97-AF65-F5344CB8AC3E}">
        <p14:creationId xmlns:p14="http://schemas.microsoft.com/office/powerpoint/2010/main" val="2693793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a:extLst>
            <a:ext uri="{FF2B5EF4-FFF2-40B4-BE49-F238E27FC236}">
              <a16:creationId xmlns:a16="http://schemas.microsoft.com/office/drawing/2014/main" id="{23E06B51-13EF-9349-BE3C-2A4B917B803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688AF5-F887-7B76-F93C-82934CF52B14}"/>
              </a:ext>
            </a:extLst>
          </p:cNvPr>
          <p:cNvSpPr/>
          <p:nvPr/>
        </p:nvSpPr>
        <p:spPr>
          <a:xfrm>
            <a:off x="0" y="0"/>
            <a:ext cx="9144000" cy="73152"/>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0997B378-1CAD-F4EB-C42E-A1762204BBD8}"/>
              </a:ext>
            </a:extLst>
          </p:cNvPr>
          <p:cNvSpPr/>
          <p:nvPr/>
        </p:nvSpPr>
        <p:spPr>
          <a:xfrm>
            <a:off x="0" y="5070348"/>
            <a:ext cx="9144000" cy="73152"/>
          </a:xfrm>
          <a:prstGeom prst="rect">
            <a:avLst/>
          </a:prstGeom>
          <a:solidFill>
            <a:srgbClr val="0D9488"/>
          </a:solidFill>
          <a:ln/>
        </p:spPr>
        <p:txBody>
          <a:bodyPr/>
          <a:lstStyle/>
          <a:p>
            <a:endParaRPr lang="en-US"/>
          </a:p>
        </p:txBody>
      </p:sp>
      <p:sp>
        <p:nvSpPr>
          <p:cNvPr id="4" name="Text 2">
            <a:extLst>
              <a:ext uri="{FF2B5EF4-FFF2-40B4-BE49-F238E27FC236}">
                <a16:creationId xmlns:a16="http://schemas.microsoft.com/office/drawing/2014/main" id="{F3EFE80B-FAED-C585-CBD0-680615960D3A}"/>
              </a:ext>
            </a:extLst>
          </p:cNvPr>
          <p:cNvSpPr/>
          <p:nvPr/>
        </p:nvSpPr>
        <p:spPr>
          <a:xfrm>
            <a:off x="457200" y="365760"/>
            <a:ext cx="8229600" cy="640080"/>
          </a:xfrm>
          <a:prstGeom prst="rect">
            <a:avLst/>
          </a:prstGeom>
          <a:noFill/>
          <a:ln/>
        </p:spPr>
        <p:txBody>
          <a:bodyPr wrap="square" lIns="0" tIns="0" rIns="0" bIns="0" rtlCol="0" anchor="ctr"/>
          <a:lstStyle/>
          <a:p>
            <a:pPr marL="0" indent="0">
              <a:buNone/>
            </a:pPr>
            <a:endParaRPr lang="el-GR" sz="3200" b="1" dirty="0">
              <a:solidFill>
                <a:srgbClr val="FFFFFF"/>
              </a:solidFill>
              <a:latin typeface="Georgia" pitchFamily="34" charset="0"/>
            </a:endParaRPr>
          </a:p>
          <a:p>
            <a:pPr marL="0" indent="0">
              <a:buNone/>
            </a:pPr>
            <a:endParaRPr lang="el-GR" sz="3200" b="1" dirty="0">
              <a:solidFill>
                <a:srgbClr val="FFFFFF"/>
              </a:solidFill>
              <a:latin typeface="Georgia" pitchFamily="34" charset="0"/>
            </a:endParaRPr>
          </a:p>
          <a:p>
            <a:pPr marL="0" indent="0">
              <a:buNone/>
            </a:pPr>
            <a:endParaRPr lang="el-GR" sz="3200" b="1" dirty="0">
              <a:solidFill>
                <a:srgbClr val="FFFFFF"/>
              </a:solidFill>
              <a:latin typeface="Georgia" pitchFamily="34" charset="0"/>
            </a:endParaRPr>
          </a:p>
          <a:p>
            <a:pPr marL="0" indent="0">
              <a:buNone/>
            </a:pPr>
            <a:endParaRPr lang="el-GR" sz="3200" b="1" dirty="0">
              <a:solidFill>
                <a:srgbClr val="FFFFFF"/>
              </a:solidFill>
              <a:latin typeface="Georgia" pitchFamily="34" charset="0"/>
            </a:endParaRPr>
          </a:p>
          <a:p>
            <a:pPr marL="0" indent="0">
              <a:buNone/>
            </a:pPr>
            <a:endParaRPr lang="el-GR" sz="3200" b="1" dirty="0">
              <a:solidFill>
                <a:srgbClr val="FFFFFF"/>
              </a:solidFill>
              <a:latin typeface="Georgia" pitchFamily="34" charset="0"/>
            </a:endParaRPr>
          </a:p>
          <a:p>
            <a:pPr marL="0" indent="0">
              <a:buNone/>
            </a:pPr>
            <a:endParaRPr lang="el-GR" sz="3200" b="1" dirty="0">
              <a:solidFill>
                <a:srgbClr val="FFFFFF"/>
              </a:solidFill>
              <a:latin typeface="Georgia" pitchFamily="34" charset="0"/>
            </a:endParaRPr>
          </a:p>
          <a:p>
            <a:pPr marL="0" indent="0">
              <a:buNone/>
            </a:pPr>
            <a:r>
              <a:rPr lang="el-GR" sz="3200" b="1" dirty="0">
                <a:solidFill>
                  <a:srgbClr val="FFFFFF"/>
                </a:solidFill>
                <a:latin typeface="Georgia" pitchFamily="34" charset="0"/>
              </a:rPr>
              <a:t>Ευχαριστούμε!</a:t>
            </a:r>
          </a:p>
        </p:txBody>
      </p:sp>
    </p:spTree>
    <p:extLst>
      <p:ext uri="{BB962C8B-B14F-4D97-AF65-F5344CB8AC3E}">
        <p14:creationId xmlns:p14="http://schemas.microsoft.com/office/powerpoint/2010/main" val="329050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1374</Words>
  <Application>Microsoft Office PowerPoint</Application>
  <PresentationFormat>On-screen Show (16:9)</PresentationFormat>
  <Paragraphs>277</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Tweet Harassment Detection</dc:title>
  <dc:subject>PptxGenJS Presentation</dc:subject>
  <dc:creator>Claude</dc:creator>
  <cp:lastModifiedBy>KARATSALOS Christos</cp:lastModifiedBy>
  <cp:revision>3</cp:revision>
  <dcterms:created xsi:type="dcterms:W3CDTF">2026-02-10T11:37:08Z</dcterms:created>
  <dcterms:modified xsi:type="dcterms:W3CDTF">2026-02-10T23:09:54Z</dcterms:modified>
</cp:coreProperties>
</file>